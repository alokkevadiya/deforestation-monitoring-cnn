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Custom CNN</c:v>
                </c:pt>
              </c:strCache>
            </c:strRef>
          </c:tx>
          <c:spPr>
            <a:solidFill>
              <a:srgbClr val="2C5F2D"/>
            </a:solidFill>
            <a:effectLst/>
          </c:spPr>
          <c:invertIfNegative val="0"/>
          <c:dLbls>
            <c:numFmt formatCode="0.00" sourceLinked="0"/>
            <c:txPr>
              <a:bodyPr/>
              <a:lstStyle/>
              <a:p>
                <a:pPr>
                  <a:defRPr b="0" i="0" strike="noStrike" sz="900" u="none">
                    <a:solidFill>
                      <a:srgbClr val="2E2E2E"/>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F1-score</c:v>
                  </c:pt>
                  <c:pt idx="4">
                    <c:v>AUC</c:v>
                  </c:pt>
                </c:lvl>
              </c:multiLvlStrCache>
            </c:multiLvlStrRef>
          </c:cat>
          <c:val>
            <c:numRef>
              <c:f>Sheet1!$B$2:$B$6</c:f>
              <c:numCache>
                <c:formatCode>General</c:formatCode>
                <c:ptCount val="5"/>
                <c:pt idx="0">
                  <c:v>0.821</c:v>
                </c:pt>
                <c:pt idx="1">
                  <c:v>0.824</c:v>
                </c:pt>
                <c:pt idx="2">
                  <c:v>0.777</c:v>
                </c:pt>
                <c:pt idx="3">
                  <c:v>0.791</c:v>
                </c:pt>
                <c:pt idx="4">
                  <c:v>0.883</c:v>
                </c:pt>
              </c:numCache>
            </c:numRef>
          </c:val>
        </c:ser>
        <c:ser>
          <c:idx val="1"/>
          <c:order val="1"/>
          <c:tx>
            <c:strRef>
              <c:f>Sheet1!$C$1</c:f>
              <c:strCache>
                <c:ptCount val="1"/>
                <c:pt idx="0">
                  <c:v>MobileNetV2</c:v>
                </c:pt>
              </c:strCache>
            </c:strRef>
          </c:tx>
          <c:spPr>
            <a:solidFill>
              <a:srgbClr val="97BC62"/>
            </a:solidFill>
            <a:effectLst/>
          </c:spPr>
          <c:invertIfNegative val="0"/>
          <c:dLbls>
            <c:numFmt formatCode="0.00" sourceLinked="0"/>
            <c:txPr>
              <a:bodyPr/>
              <a:lstStyle/>
              <a:p>
                <a:pPr>
                  <a:defRPr b="0" i="0" strike="noStrike" sz="900" u="none">
                    <a:solidFill>
                      <a:srgbClr val="2E2E2E"/>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F1-score</c:v>
                  </c:pt>
                  <c:pt idx="4">
                    <c:v>AUC</c:v>
                  </c:pt>
                </c:lvl>
              </c:multiLvlStrCache>
            </c:multiLvlStrRef>
          </c:cat>
          <c:val>
            <c:numRef>
              <c:f>Sheet1!$C$2:$C$6</c:f>
              <c:numCache>
                <c:formatCode>General</c:formatCode>
                <c:ptCount val="5"/>
                <c:pt idx="0">
                  <c:v>0.718</c:v>
                </c:pt>
                <c:pt idx="1">
                  <c:v>0.714</c:v>
                </c:pt>
                <c:pt idx="2">
                  <c:v>0.734</c:v>
                </c:pt>
                <c:pt idx="3">
                  <c:v>0.711</c:v>
                </c:pt>
                <c:pt idx="4">
                  <c:v>0.818</c:v>
                </c:pt>
              </c:numCache>
            </c:numRef>
          </c:val>
        </c:ser>
        <c:dLbls>
          <c:numFmt formatCode="0.00" sourceLinked="0"/>
          <c:txPr>
            <a:bodyPr/>
            <a:lstStyle/>
            <a:p>
              <a:pPr>
                <a:defRPr b="0" i="0" strike="noStrike" sz="900" u="none">
                  <a:solidFill>
                    <a:srgbClr val="2E2E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7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2E2E2E"/>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Alok Kevadiya. This is my Phase 3 presentation for the Machine Learning course project, titled Deforestation Monitoring Using Deep Learning. It is an explainable convolutional neural network framework that classifies aerial images into forest and non-forest regions. Over the next few minutes I will walk you through the problem, the dataset, my methodology, the CNN models I built, the results, and the key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Forests are vital to the planet — they regulate the carbon cycle, protect biodiversity, and support millions of livelihoods. But monitoring them by hand does not scale. Analysts interpreting aerial imagery manually are slow and inconsistent over large areas, and any delay allows illegal clearing to continue. Automated image analysis offers a scalable alternative that can process huge volumes of imagery and flag suspicious regions for human review. That is the practical motivation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is driven by five research questions. First, can a CNN reliably tell forest from non-forest using only ordinary red-green-blue imagery. Second, does the pre-trained MobileNetV2 model beat a custom CNN trained from scratch. Third, which evaluation metrics are most trustworthy given that our dataset is imbalanced. Fourth, do the explainability methods Grad-CAM and SHAP confirm the model is looking at genuine vegetation rather than background tricks. And fifth, which model gives the best overall balance of accuracy, efficiency, and interpretability for real deployment. I will answer each of these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dataset. I used the Forest Aerial Images dataset from Kaggle, which my instructor approved. It contains 5,108 aerial images. I adapted it from a segmentation dataset into a binary classification task using the masks. There are 3,301 forest images and 1,807 non-forest images, which gives a moderate class imbalance of about 1.83 to 1. The forest class is dense green canopy with irregular texture; the non-forest class is cleared land, soil, water, or buildings, which look lighter and more regular. Because of the imbalance, I applied class weighting during training so the minority class would not be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my overall methodology as an end-to-end workflow. I start with the dataset, inspect and clean it, then preprocess by resizing every image to 128 by 128 pixels and normalising the pixel values. I split the data using stratified sampling into seventy percent training, fifteen percent validation, and fifteen percent test, and I augment only the training set. Then I develop two models — a custom CNN and a MobileNetV2 transfer-learning model — train and validate them, evaluate them with multiple metrics, and finally apply Grad-CAM and SHAP to interpret their decisions before comparing them. The design is experimental, quantitative, comparative, and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CNN models I compared. The diagram shows my custom CNN: it takes a 128 by 128 colour image and passes it through three convolutional blocks with 32, 64, and 128 filters, each followed by max pooling. The features are flattened into a dense layer of 128 units, regularised with 50 percent dropout, and a single sigmoid unit produces the binary output. The second model, on the right, is MobileNetV2, pre-trained on ImageNet. It is a lightweight architecture using depthwise-separable convolutions. I removed its original head, added a new one, and used a two-stage strategy: first freezing the backbone as a feature extractor, then fine-tuning the deeper layers on my forest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the implementation into six concrete steps. Step one, I preprocess every image to a uniform 128 by 128 RGB input with normalised pixels. Step two, I split with stratified sampling and make sure augmented copies never leak across splits. Step three, I augment only the training set using flips, rotation, zoom, and brightness changes, all valid because aerial forest cover has no fixed orientation. Step four, I train with the Adam optimiser, binary cross-entropy loss, and class weights. Step five, I evaluate on the untouched test set with six metrics plus the confusion matrix. And step six, I apply Grad-CAM and SHAP to interpret the predictions. The whole pipeline runs on Kaggle with GPU acceleration and is fully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results. The grouped bar chart compares the two models across all five numeric metrics, and the dark green custom CNN bars are higher than the moss-green MobileNetV2 bars on accuracy, F1, and AUC. My custom CNN reached 82.1 percent test accuracy, with a macro-averaged F1-score of 0.79 and an AUC of 0.883. MobileNetV2 trailed at 71.8 percent accuracy and a macro F1 of 0.71. So the answer to research question two is clear: the custom network actually beat the pre-trained transfer model on this specific binary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give a deeper view of performance. On the left, the confusion matrices show the actual versus predicted counts for each model. The custom CNN, in green, makes far fewer mistakes in both the forest and non-forest categories, while MobileNetV2 confuses more Forest images as Non-Forest. On the right, the ROC curves plot the trade-off between true and false positive rates across thresholds. Both curves sit well above the diagonal chance line, but the custom CNN's curve is higher, giving an AUC of 0.883 compared to 0.818 for MobileNetV2. Together these confirm the custom CNN has stronger, more balanced discrimination.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high accuracy number is not enough — I also need to know the model is reasoning for the right reasons. This is where explainability comes in, answering research question four. Grad-CAM produces heatmaps showing which regions drove each prediction, and for forest predictions it lit up on continuous canopy, then shifted to cleared or built areas for non-forest. I also ran a real SHAP analysis, shown on the right. It gives clearly negative Forest evidence to the water and bare scenes, which is correct. The SHAP maps are diffuse and low in magnitude because my network uses global average pooling, which smooths the signal, so I treat Grad-CAM as the primary tool and SHAP as corroborating evidence. Together they show the model reasons from genuine vegetation content, not background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the work has limitations, and I want to be honest about them. First, I used a single dataset, so I have not externally validated on imagery from other regions, sensors, or seasons. Second, I used only RGB imagery, whereas extra spectral bands could improve discrimination. Third, I framed the task as binary, but real monitoring may need finer classes like partial clearing or regrowth. And fourth, I did not formally test robustness to noise, blur, or lighting changes. Future work will add external validation, extend to multi-spectral and multi-class settings, test lighter architectures like MobileNet and EfficientNet, and run a formal robustness and efficiency study for deployment on drones and edge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My main finding is that an explainable custom CNN outperformed MobileNetV2 transfer learning on every single metric — reaching 82.1 percent accuracy, a macro F1 of 0.79, and an AUC of 0.883 — while also being faster and cheaper to run. Grad-CAM and SHAP together confirmed that the model bases its decisions on real vegetation. The result is a reproducible, explainable, and resource-efficient pipeline that forms a solid foundation for scalable and trustworthy automated deforestation monitoring. Thank you for watching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9692640" y="-1280160"/>
            <a:ext cx="3840480" cy="3840480"/>
          </a:xfrm>
          <a:prstGeom prst="ellipse">
            <a:avLst/>
          </a:prstGeom>
          <a:solidFill>
            <a:srgbClr val="2C5F2D"/>
          </a:solidFill>
          <a:ln/>
        </p:spPr>
      </p:sp>
      <p:sp>
        <p:nvSpPr>
          <p:cNvPr id="3" name="Shape 1"/>
          <p:cNvSpPr/>
          <p:nvPr/>
        </p:nvSpPr>
        <p:spPr>
          <a:xfrm>
            <a:off x="10607040" y="4023360"/>
            <a:ext cx="2926080" cy="2926080"/>
          </a:xfrm>
          <a:prstGeom prst="ellipse">
            <a:avLst/>
          </a:prstGeom>
          <a:solidFill>
            <a:srgbClr val="97BC62">
              <a:alpha val="40000"/>
            </a:srgbClr>
          </a:solidFill>
          <a:ln/>
        </p:spPr>
      </p:sp>
      <p:sp>
        <p:nvSpPr>
          <p:cNvPr id="4" name="Text 2"/>
          <p:cNvSpPr/>
          <p:nvPr/>
        </p:nvSpPr>
        <p:spPr>
          <a:xfrm>
            <a:off x="640080" y="640080"/>
            <a:ext cx="8229600" cy="365760"/>
          </a:xfrm>
          <a:prstGeom prst="rect">
            <a:avLst/>
          </a:prstGeom>
          <a:noFill/>
          <a:ln/>
        </p:spPr>
        <p:txBody>
          <a:bodyPr wrap="square" rtlCol="0" anchor="ctr"/>
          <a:lstStyle/>
          <a:p>
            <a:pPr indent="0" marL="0">
              <a:buNone/>
            </a:pPr>
            <a:r>
              <a:rPr lang="en-US" sz="1400" b="1" spc="300" kern="0" dirty="0">
                <a:solidFill>
                  <a:srgbClr val="97BC62"/>
                </a:solidFill>
                <a:latin typeface="Calibri" pitchFamily="34" charset="0"/>
                <a:ea typeface="Calibri" pitchFamily="34" charset="-122"/>
                <a:cs typeface="Calibri" pitchFamily="34" charset="-120"/>
              </a:rPr>
              <a:t>MACHINE LEARNING COURSE  |  PHASE 3</a:t>
            </a:r>
            <a:endParaRPr lang="en-US" sz="1400" dirty="0"/>
          </a:p>
        </p:txBody>
      </p:sp>
      <p:sp>
        <p:nvSpPr>
          <p:cNvPr id="5" name="Text 3"/>
          <p:cNvSpPr/>
          <p:nvPr/>
        </p:nvSpPr>
        <p:spPr>
          <a:xfrm>
            <a:off x="640080" y="1371600"/>
            <a:ext cx="10058400" cy="1828800"/>
          </a:xfrm>
          <a:prstGeom prst="rect">
            <a:avLst/>
          </a:prstGeom>
          <a:noFill/>
          <a:ln/>
        </p:spPr>
        <p:txBody>
          <a:bodyPr wrap="square"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Deforestation Monitoring</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Using Deep Learning</a:t>
            </a:r>
            <a:endParaRPr lang="en-US" sz="4600" dirty="0"/>
          </a:p>
        </p:txBody>
      </p:sp>
      <p:sp>
        <p:nvSpPr>
          <p:cNvPr id="6" name="Text 4"/>
          <p:cNvSpPr/>
          <p:nvPr/>
        </p:nvSpPr>
        <p:spPr>
          <a:xfrm>
            <a:off x="640080" y="3383280"/>
            <a:ext cx="9601200" cy="640080"/>
          </a:xfrm>
          <a:prstGeom prst="rect">
            <a:avLst/>
          </a:prstGeom>
          <a:noFill/>
          <a:ln/>
        </p:spPr>
        <p:txBody>
          <a:bodyPr wrap="square" rtlCol="0" anchor="ctr"/>
          <a:lstStyle/>
          <a:p>
            <a:pPr indent="0" marL="0">
              <a:buNone/>
            </a:pPr>
            <a:r>
              <a:rPr lang="en-US" sz="1900" i="1" dirty="0">
                <a:solidFill>
                  <a:srgbClr val="97BC62"/>
                </a:solidFill>
                <a:latin typeface="Calibri" pitchFamily="34" charset="0"/>
                <a:ea typeface="Calibri" pitchFamily="34" charset="-122"/>
                <a:cs typeface="Calibri" pitchFamily="34" charset="-120"/>
              </a:rPr>
              <a:t>An Explainable CNN Framework for Forest / Non-Forest Classification of Aerial Imagery</a:t>
            </a:r>
            <a:endParaRPr lang="en-US" sz="1900" dirty="0"/>
          </a:p>
        </p:txBody>
      </p:sp>
      <p:sp>
        <p:nvSpPr>
          <p:cNvPr id="7" name="Text 5"/>
          <p:cNvSpPr/>
          <p:nvPr/>
        </p:nvSpPr>
        <p:spPr>
          <a:xfrm>
            <a:off x="640080" y="5212080"/>
            <a:ext cx="8229600" cy="9144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Alok Prakashbhai Kevadiya</a:t>
            </a:r>
            <a:endParaRPr lang="en-US" sz="1700" dirty="0"/>
          </a:p>
          <a:p>
            <a:pPr indent="0" marL="0">
              <a:buNone/>
            </a:pPr>
            <a:r>
              <a:rPr lang="en-US" sz="1400" dirty="0">
                <a:solidFill>
                  <a:srgbClr val="97BC62"/>
                </a:solidFill>
                <a:latin typeface="Calibri" pitchFamily="34" charset="0"/>
                <a:ea typeface="Calibri" pitchFamily="34" charset="-122"/>
                <a:cs typeface="Calibri" pitchFamily="34" charset="-120"/>
              </a:rPr>
              <a:t>Matric 30010903  ·  Instructor: Raja Hashim Ali</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The Problem</a:t>
            </a:r>
            <a:endParaRPr lang="en-US" sz="3400" dirty="0"/>
          </a:p>
        </p:txBody>
      </p:sp>
      <p:sp>
        <p:nvSpPr>
          <p:cNvPr id="3" name="Text 1"/>
          <p:cNvSpPr/>
          <p:nvPr/>
        </p:nvSpPr>
        <p:spPr>
          <a:xfrm>
            <a:off x="640080" y="1097280"/>
            <a:ext cx="10058400" cy="457200"/>
          </a:xfrm>
          <a:prstGeom prst="rect">
            <a:avLst/>
          </a:prstGeom>
          <a:noFill/>
          <a:ln/>
        </p:spPr>
        <p:txBody>
          <a:bodyPr wrap="square" rtlCol="0" anchor="ctr"/>
          <a:lstStyle/>
          <a:p>
            <a:pPr indent="0" marL="0">
              <a:buNone/>
            </a:pPr>
            <a:r>
              <a:rPr lang="en-US" sz="1700" i="1" dirty="0">
                <a:solidFill>
                  <a:srgbClr val="6B7B6B"/>
                </a:solidFill>
                <a:latin typeface="Calibri" pitchFamily="34" charset="0"/>
                <a:ea typeface="Calibri" pitchFamily="34" charset="-122"/>
                <a:cs typeface="Calibri" pitchFamily="34" charset="-120"/>
              </a:rPr>
              <a:t>Why automated deforestation monitoring matters</a:t>
            </a:r>
            <a:endParaRPr lang="en-US" sz="1700" dirty="0"/>
          </a:p>
        </p:txBody>
      </p:sp>
      <p:sp>
        <p:nvSpPr>
          <p:cNvPr id="4" name="Shape 2"/>
          <p:cNvSpPr/>
          <p:nvPr/>
        </p:nvSpPr>
        <p:spPr>
          <a:xfrm>
            <a:off x="640080" y="1920240"/>
            <a:ext cx="5212080" cy="1920240"/>
          </a:xfrm>
          <a:prstGeom prst="roundRect">
            <a:avLst>
              <a:gd name="adj" fmla="val 3810"/>
            </a:avLst>
          </a:prstGeom>
          <a:solidFill>
            <a:srgbClr val="FFFFFF"/>
          </a:solidFill>
          <a:ln/>
          <a:effectLst>
            <a:outerShdw sx="100000" sy="100000" kx="0" ky="0" algn="bl" rotWithShape="0" blurRad="88900" dist="38100" dir="5400000">
              <a:srgbClr val="000000">
                <a:alpha val="18000"/>
              </a:srgbClr>
            </a:outerShdw>
          </a:effectLst>
        </p:spPr>
      </p:sp>
      <p:sp>
        <p:nvSpPr>
          <p:cNvPr id="5" name="Shape 3"/>
          <p:cNvSpPr/>
          <p:nvPr/>
        </p:nvSpPr>
        <p:spPr>
          <a:xfrm>
            <a:off x="914400" y="2240280"/>
            <a:ext cx="411480" cy="411480"/>
          </a:xfrm>
          <a:prstGeom prst="ellipse">
            <a:avLst/>
          </a:prstGeom>
          <a:solidFill>
            <a:srgbClr val="97BC62"/>
          </a:solidFill>
          <a:ln/>
        </p:spPr>
      </p:sp>
      <p:sp>
        <p:nvSpPr>
          <p:cNvPr id="6" name="Text 4"/>
          <p:cNvSpPr/>
          <p:nvPr/>
        </p:nvSpPr>
        <p:spPr>
          <a:xfrm>
            <a:off x="914400" y="2240280"/>
            <a:ext cx="411480" cy="411480"/>
          </a:xfrm>
          <a:prstGeom prst="rect">
            <a:avLst/>
          </a:prstGeom>
          <a:noFill/>
          <a:ln/>
        </p:spPr>
        <p:txBody>
          <a:bodyPr wrap="square" rtlCol="0" anchor="ctr"/>
          <a:lstStyle/>
          <a:p>
            <a:pPr algn="ctr" indent="0" marL="0">
              <a:buNone/>
            </a:pPr>
            <a:r>
              <a:rPr lang="en-US" sz="1800" b="1" dirty="0">
                <a:solidFill>
                  <a:srgbClr val="1B3A1C"/>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2194560"/>
            <a:ext cx="4114800" cy="457200"/>
          </a:xfrm>
          <a:prstGeom prst="rect">
            <a:avLst/>
          </a:prstGeom>
          <a:noFill/>
          <a:ln/>
        </p:spPr>
        <p:txBody>
          <a:bodyPr wrap="square"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Forests are vital</a:t>
            </a:r>
            <a:endParaRPr lang="en-US" sz="1900" dirty="0"/>
          </a:p>
        </p:txBody>
      </p:sp>
      <p:sp>
        <p:nvSpPr>
          <p:cNvPr id="8" name="Text 6"/>
          <p:cNvSpPr/>
          <p:nvPr/>
        </p:nvSpPr>
        <p:spPr>
          <a:xfrm>
            <a:off x="1508760" y="2697480"/>
            <a:ext cx="4069080" cy="91440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They regulate the carbon cycle, protect biodiversity, and sustain communities — covering roughly one third of land surface.</a:t>
            </a:r>
            <a:endParaRPr lang="en-US" sz="1400" dirty="0"/>
          </a:p>
        </p:txBody>
      </p:sp>
      <p:sp>
        <p:nvSpPr>
          <p:cNvPr id="9" name="Shape 7"/>
          <p:cNvSpPr/>
          <p:nvPr/>
        </p:nvSpPr>
        <p:spPr>
          <a:xfrm>
            <a:off x="6172200" y="1920240"/>
            <a:ext cx="5212080" cy="1920240"/>
          </a:xfrm>
          <a:prstGeom prst="roundRect">
            <a:avLst>
              <a:gd name="adj" fmla="val 3810"/>
            </a:avLst>
          </a:prstGeom>
          <a:solidFill>
            <a:srgbClr val="FFFFFF"/>
          </a:solidFill>
          <a:ln/>
          <a:effectLst>
            <a:outerShdw sx="100000" sy="100000" kx="0" ky="0" algn="bl" rotWithShape="0" blurRad="88900" dist="38100" dir="5400000">
              <a:srgbClr val="000000">
                <a:alpha val="18000"/>
              </a:srgbClr>
            </a:outerShdw>
          </a:effectLst>
        </p:spPr>
      </p:sp>
      <p:sp>
        <p:nvSpPr>
          <p:cNvPr id="10" name="Shape 8"/>
          <p:cNvSpPr/>
          <p:nvPr/>
        </p:nvSpPr>
        <p:spPr>
          <a:xfrm>
            <a:off x="6446520" y="2240280"/>
            <a:ext cx="411480" cy="411480"/>
          </a:xfrm>
          <a:prstGeom prst="ellipse">
            <a:avLst/>
          </a:prstGeom>
          <a:solidFill>
            <a:srgbClr val="97BC62"/>
          </a:solidFill>
          <a:ln/>
        </p:spPr>
      </p:sp>
      <p:sp>
        <p:nvSpPr>
          <p:cNvPr id="11" name="Text 9"/>
          <p:cNvSpPr/>
          <p:nvPr/>
        </p:nvSpPr>
        <p:spPr>
          <a:xfrm>
            <a:off x="6446520" y="2240280"/>
            <a:ext cx="411480" cy="411480"/>
          </a:xfrm>
          <a:prstGeom prst="rect">
            <a:avLst/>
          </a:prstGeom>
          <a:noFill/>
          <a:ln/>
        </p:spPr>
        <p:txBody>
          <a:bodyPr wrap="square" rtlCol="0" anchor="ctr"/>
          <a:lstStyle/>
          <a:p>
            <a:pPr algn="ctr" indent="0" marL="0">
              <a:buNone/>
            </a:pPr>
            <a:r>
              <a:rPr lang="en-US" sz="1800" b="1" dirty="0">
                <a:solidFill>
                  <a:srgbClr val="1B3A1C"/>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040880" y="2194560"/>
            <a:ext cx="4114800" cy="457200"/>
          </a:xfrm>
          <a:prstGeom prst="rect">
            <a:avLst/>
          </a:prstGeom>
          <a:noFill/>
          <a:ln/>
        </p:spPr>
        <p:txBody>
          <a:bodyPr wrap="square"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Manual monitoring fails to scale</a:t>
            </a:r>
            <a:endParaRPr lang="en-US" sz="1900" dirty="0"/>
          </a:p>
        </p:txBody>
      </p:sp>
      <p:sp>
        <p:nvSpPr>
          <p:cNvPr id="13" name="Text 11"/>
          <p:cNvSpPr/>
          <p:nvPr/>
        </p:nvSpPr>
        <p:spPr>
          <a:xfrm>
            <a:off x="7040880" y="2697480"/>
            <a:ext cx="4069080" cy="91440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Human interpretation of aerial imagery is slow, costly, and inconsistent across very large regions.</a:t>
            </a:r>
            <a:endParaRPr lang="en-US" sz="1400" dirty="0"/>
          </a:p>
        </p:txBody>
      </p:sp>
      <p:sp>
        <p:nvSpPr>
          <p:cNvPr id="14" name="Shape 12"/>
          <p:cNvSpPr/>
          <p:nvPr/>
        </p:nvSpPr>
        <p:spPr>
          <a:xfrm>
            <a:off x="640080" y="4160520"/>
            <a:ext cx="5212080" cy="1920240"/>
          </a:xfrm>
          <a:prstGeom prst="roundRect">
            <a:avLst>
              <a:gd name="adj" fmla="val 3810"/>
            </a:avLst>
          </a:prstGeom>
          <a:solidFill>
            <a:srgbClr val="FFFFFF"/>
          </a:solidFill>
          <a:ln/>
          <a:effectLst>
            <a:outerShdw sx="100000" sy="100000" kx="0" ky="0" algn="bl" rotWithShape="0" blurRad="88900" dist="38100" dir="5400000">
              <a:srgbClr val="000000">
                <a:alpha val="18000"/>
              </a:srgbClr>
            </a:outerShdw>
          </a:effectLst>
        </p:spPr>
      </p:sp>
      <p:sp>
        <p:nvSpPr>
          <p:cNvPr id="15" name="Shape 13"/>
          <p:cNvSpPr/>
          <p:nvPr/>
        </p:nvSpPr>
        <p:spPr>
          <a:xfrm>
            <a:off x="914400" y="4480560"/>
            <a:ext cx="411480" cy="411480"/>
          </a:xfrm>
          <a:prstGeom prst="ellipse">
            <a:avLst/>
          </a:prstGeom>
          <a:solidFill>
            <a:srgbClr val="97BC62"/>
          </a:solidFill>
          <a:ln/>
        </p:spPr>
      </p:sp>
      <p:sp>
        <p:nvSpPr>
          <p:cNvPr id="16" name="Text 14"/>
          <p:cNvSpPr/>
          <p:nvPr/>
        </p:nvSpPr>
        <p:spPr>
          <a:xfrm>
            <a:off x="914400" y="4480560"/>
            <a:ext cx="411480" cy="411480"/>
          </a:xfrm>
          <a:prstGeom prst="rect">
            <a:avLst/>
          </a:prstGeom>
          <a:noFill/>
          <a:ln/>
        </p:spPr>
        <p:txBody>
          <a:bodyPr wrap="square" rtlCol="0" anchor="ctr"/>
          <a:lstStyle/>
          <a:p>
            <a:pPr algn="ctr" indent="0" marL="0">
              <a:buNone/>
            </a:pPr>
            <a:r>
              <a:rPr lang="en-US" sz="1800" b="1" dirty="0">
                <a:solidFill>
                  <a:srgbClr val="1B3A1C"/>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434840"/>
            <a:ext cx="4114800" cy="457200"/>
          </a:xfrm>
          <a:prstGeom prst="rect">
            <a:avLst/>
          </a:prstGeom>
          <a:noFill/>
          <a:ln/>
        </p:spPr>
        <p:txBody>
          <a:bodyPr wrap="square"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Delays cost forests</a:t>
            </a:r>
            <a:endParaRPr lang="en-US" sz="1900" dirty="0"/>
          </a:p>
        </p:txBody>
      </p:sp>
      <p:sp>
        <p:nvSpPr>
          <p:cNvPr id="18" name="Text 16"/>
          <p:cNvSpPr/>
          <p:nvPr/>
        </p:nvSpPr>
        <p:spPr>
          <a:xfrm>
            <a:off x="1508760" y="4937760"/>
            <a:ext cx="4069080" cy="91440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Late or inaccurate detection lets illegal clearing continue and weakens conservation response.</a:t>
            </a:r>
            <a:endParaRPr lang="en-US" sz="1400" dirty="0"/>
          </a:p>
        </p:txBody>
      </p:sp>
      <p:sp>
        <p:nvSpPr>
          <p:cNvPr id="19" name="Shape 17"/>
          <p:cNvSpPr/>
          <p:nvPr/>
        </p:nvSpPr>
        <p:spPr>
          <a:xfrm>
            <a:off x="6172200" y="4160520"/>
            <a:ext cx="5212080" cy="1920240"/>
          </a:xfrm>
          <a:prstGeom prst="roundRect">
            <a:avLst>
              <a:gd name="adj" fmla="val 3810"/>
            </a:avLst>
          </a:prstGeom>
          <a:solidFill>
            <a:srgbClr val="FFFFFF"/>
          </a:solidFill>
          <a:ln/>
          <a:effectLst>
            <a:outerShdw sx="100000" sy="100000" kx="0" ky="0" algn="bl" rotWithShape="0" blurRad="88900" dist="38100" dir="5400000">
              <a:srgbClr val="000000">
                <a:alpha val="18000"/>
              </a:srgbClr>
            </a:outerShdw>
          </a:effectLst>
        </p:spPr>
      </p:sp>
      <p:sp>
        <p:nvSpPr>
          <p:cNvPr id="20" name="Shape 18"/>
          <p:cNvSpPr/>
          <p:nvPr/>
        </p:nvSpPr>
        <p:spPr>
          <a:xfrm>
            <a:off x="6446520" y="4480560"/>
            <a:ext cx="411480" cy="411480"/>
          </a:xfrm>
          <a:prstGeom prst="ellipse">
            <a:avLst/>
          </a:prstGeom>
          <a:solidFill>
            <a:srgbClr val="97BC62"/>
          </a:solidFill>
          <a:ln/>
        </p:spPr>
      </p:sp>
      <p:sp>
        <p:nvSpPr>
          <p:cNvPr id="21" name="Text 19"/>
          <p:cNvSpPr/>
          <p:nvPr/>
        </p:nvSpPr>
        <p:spPr>
          <a:xfrm>
            <a:off x="6446520" y="4480560"/>
            <a:ext cx="411480" cy="411480"/>
          </a:xfrm>
          <a:prstGeom prst="rect">
            <a:avLst/>
          </a:prstGeom>
          <a:noFill/>
          <a:ln/>
        </p:spPr>
        <p:txBody>
          <a:bodyPr wrap="square" rtlCol="0" anchor="ctr"/>
          <a:lstStyle/>
          <a:p>
            <a:pPr algn="ctr" indent="0" marL="0">
              <a:buNone/>
            </a:pPr>
            <a:r>
              <a:rPr lang="en-US" sz="1800" b="1" dirty="0">
                <a:solidFill>
                  <a:srgbClr val="1B3A1C"/>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040880" y="4434840"/>
            <a:ext cx="4114800" cy="457200"/>
          </a:xfrm>
          <a:prstGeom prst="rect">
            <a:avLst/>
          </a:prstGeom>
          <a:noFill/>
          <a:ln/>
        </p:spPr>
        <p:txBody>
          <a:bodyPr wrap="square"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Automation can help</a:t>
            </a:r>
            <a:endParaRPr lang="en-US" sz="1900" dirty="0"/>
          </a:p>
        </p:txBody>
      </p:sp>
      <p:sp>
        <p:nvSpPr>
          <p:cNvPr id="23" name="Text 21"/>
          <p:cNvSpPr/>
          <p:nvPr/>
        </p:nvSpPr>
        <p:spPr>
          <a:xfrm>
            <a:off x="7040880" y="4937760"/>
            <a:ext cx="4069080" cy="91440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Deep learning can scan huge volumes of imagery rapidly and flag non-forest regions for human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1C"/>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Research Questions</a:t>
            </a:r>
            <a:endParaRPr lang="en-US" sz="3400" dirty="0"/>
          </a:p>
        </p:txBody>
      </p:sp>
      <p:sp>
        <p:nvSpPr>
          <p:cNvPr id="3" name="Shape 1"/>
          <p:cNvSpPr/>
          <p:nvPr/>
        </p:nvSpPr>
        <p:spPr>
          <a:xfrm>
            <a:off x="640080" y="1463040"/>
            <a:ext cx="10881360" cy="841248"/>
          </a:xfrm>
          <a:prstGeom prst="roundRect">
            <a:avLst>
              <a:gd name="adj" fmla="val 6522"/>
            </a:avLst>
          </a:prstGeom>
          <a:solidFill>
            <a:srgbClr val="2C5F2D"/>
          </a:solidFill>
          <a:ln/>
        </p:spPr>
      </p:sp>
      <p:sp>
        <p:nvSpPr>
          <p:cNvPr id="4" name="Text 2"/>
          <p:cNvSpPr/>
          <p:nvPr/>
        </p:nvSpPr>
        <p:spPr>
          <a:xfrm>
            <a:off x="822960" y="1463040"/>
            <a:ext cx="1097280" cy="841248"/>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RQ1</a:t>
            </a:r>
            <a:endParaRPr lang="en-US" sz="2200" dirty="0"/>
          </a:p>
        </p:txBody>
      </p:sp>
      <p:sp>
        <p:nvSpPr>
          <p:cNvPr id="5" name="Text 3"/>
          <p:cNvSpPr/>
          <p:nvPr/>
        </p:nvSpPr>
        <p:spPr>
          <a:xfrm>
            <a:off x="1920240" y="1463040"/>
            <a:ext cx="9418320" cy="84124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Can a CNN reliably distinguish forest from non-forest using only RGB aerial imagery?</a:t>
            </a:r>
            <a:endParaRPr lang="en-US" sz="1600" dirty="0"/>
          </a:p>
        </p:txBody>
      </p:sp>
      <p:sp>
        <p:nvSpPr>
          <p:cNvPr id="6" name="Shape 4"/>
          <p:cNvSpPr/>
          <p:nvPr/>
        </p:nvSpPr>
        <p:spPr>
          <a:xfrm>
            <a:off x="640080" y="2441448"/>
            <a:ext cx="10881360" cy="841248"/>
          </a:xfrm>
          <a:prstGeom prst="roundRect">
            <a:avLst>
              <a:gd name="adj" fmla="val 6522"/>
            </a:avLst>
          </a:prstGeom>
          <a:solidFill>
            <a:srgbClr val="2C5F2D"/>
          </a:solidFill>
          <a:ln/>
        </p:spPr>
      </p:sp>
      <p:sp>
        <p:nvSpPr>
          <p:cNvPr id="7" name="Text 5"/>
          <p:cNvSpPr/>
          <p:nvPr/>
        </p:nvSpPr>
        <p:spPr>
          <a:xfrm>
            <a:off x="822960" y="2441448"/>
            <a:ext cx="1097280" cy="841248"/>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RQ2</a:t>
            </a:r>
            <a:endParaRPr lang="en-US" sz="2200" dirty="0"/>
          </a:p>
        </p:txBody>
      </p:sp>
      <p:sp>
        <p:nvSpPr>
          <p:cNvPr id="8" name="Text 6"/>
          <p:cNvSpPr/>
          <p:nvPr/>
        </p:nvSpPr>
        <p:spPr>
          <a:xfrm>
            <a:off x="1920240" y="2441448"/>
            <a:ext cx="9418320" cy="84124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Does MobileNetV2 transfer learning outperform a custom CNN trained from scratch?</a:t>
            </a:r>
            <a:endParaRPr lang="en-US" sz="1600" dirty="0"/>
          </a:p>
        </p:txBody>
      </p:sp>
      <p:sp>
        <p:nvSpPr>
          <p:cNvPr id="9" name="Shape 7"/>
          <p:cNvSpPr/>
          <p:nvPr/>
        </p:nvSpPr>
        <p:spPr>
          <a:xfrm>
            <a:off x="640080" y="3419856"/>
            <a:ext cx="10881360" cy="841248"/>
          </a:xfrm>
          <a:prstGeom prst="roundRect">
            <a:avLst>
              <a:gd name="adj" fmla="val 6522"/>
            </a:avLst>
          </a:prstGeom>
          <a:solidFill>
            <a:srgbClr val="2C5F2D"/>
          </a:solidFill>
          <a:ln/>
        </p:spPr>
      </p:sp>
      <p:sp>
        <p:nvSpPr>
          <p:cNvPr id="10" name="Text 8"/>
          <p:cNvSpPr/>
          <p:nvPr/>
        </p:nvSpPr>
        <p:spPr>
          <a:xfrm>
            <a:off x="822960" y="3419856"/>
            <a:ext cx="1097280" cy="841248"/>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RQ3</a:t>
            </a:r>
            <a:endParaRPr lang="en-US" sz="2200" dirty="0"/>
          </a:p>
        </p:txBody>
      </p:sp>
      <p:sp>
        <p:nvSpPr>
          <p:cNvPr id="11" name="Text 9"/>
          <p:cNvSpPr/>
          <p:nvPr/>
        </p:nvSpPr>
        <p:spPr>
          <a:xfrm>
            <a:off x="1920240" y="3419856"/>
            <a:ext cx="9418320" cy="84124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Which metrics best reflect performance given the dataset's class imbalance?</a:t>
            </a:r>
            <a:endParaRPr lang="en-US" sz="1600" dirty="0"/>
          </a:p>
        </p:txBody>
      </p:sp>
      <p:sp>
        <p:nvSpPr>
          <p:cNvPr id="12" name="Shape 10"/>
          <p:cNvSpPr/>
          <p:nvPr/>
        </p:nvSpPr>
        <p:spPr>
          <a:xfrm>
            <a:off x="640080" y="4398264"/>
            <a:ext cx="10881360" cy="841248"/>
          </a:xfrm>
          <a:prstGeom prst="roundRect">
            <a:avLst>
              <a:gd name="adj" fmla="val 6522"/>
            </a:avLst>
          </a:prstGeom>
          <a:solidFill>
            <a:srgbClr val="2C5F2D"/>
          </a:solidFill>
          <a:ln/>
        </p:spPr>
      </p:sp>
      <p:sp>
        <p:nvSpPr>
          <p:cNvPr id="13" name="Text 11"/>
          <p:cNvSpPr/>
          <p:nvPr/>
        </p:nvSpPr>
        <p:spPr>
          <a:xfrm>
            <a:off x="822960" y="4398264"/>
            <a:ext cx="1097280" cy="841248"/>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RQ4</a:t>
            </a:r>
            <a:endParaRPr lang="en-US" sz="2200" dirty="0"/>
          </a:p>
        </p:txBody>
      </p:sp>
      <p:sp>
        <p:nvSpPr>
          <p:cNvPr id="14" name="Text 12"/>
          <p:cNvSpPr/>
          <p:nvPr/>
        </p:nvSpPr>
        <p:spPr>
          <a:xfrm>
            <a:off x="1920240" y="4398264"/>
            <a:ext cx="9418320" cy="84124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Do Grad-CAM and SHAP confirm the model attends to real vegetation, not artefacts?</a:t>
            </a:r>
            <a:endParaRPr lang="en-US" sz="1600" dirty="0"/>
          </a:p>
        </p:txBody>
      </p:sp>
      <p:sp>
        <p:nvSpPr>
          <p:cNvPr id="15" name="Shape 13"/>
          <p:cNvSpPr/>
          <p:nvPr/>
        </p:nvSpPr>
        <p:spPr>
          <a:xfrm>
            <a:off x="640080" y="5376672"/>
            <a:ext cx="10881360" cy="841248"/>
          </a:xfrm>
          <a:prstGeom prst="roundRect">
            <a:avLst>
              <a:gd name="adj" fmla="val 6522"/>
            </a:avLst>
          </a:prstGeom>
          <a:solidFill>
            <a:srgbClr val="2C5F2D"/>
          </a:solidFill>
          <a:ln/>
        </p:spPr>
      </p:sp>
      <p:sp>
        <p:nvSpPr>
          <p:cNvPr id="16" name="Text 14"/>
          <p:cNvSpPr/>
          <p:nvPr/>
        </p:nvSpPr>
        <p:spPr>
          <a:xfrm>
            <a:off x="822960" y="5376672"/>
            <a:ext cx="1097280" cy="841248"/>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RQ5</a:t>
            </a:r>
            <a:endParaRPr lang="en-US" sz="2200" dirty="0"/>
          </a:p>
        </p:txBody>
      </p:sp>
      <p:sp>
        <p:nvSpPr>
          <p:cNvPr id="17" name="Text 15"/>
          <p:cNvSpPr/>
          <p:nvPr/>
        </p:nvSpPr>
        <p:spPr>
          <a:xfrm>
            <a:off x="1920240" y="5376672"/>
            <a:ext cx="9418320" cy="841248"/>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Which model best balances accuracy, efficiency, and interpretability for deployment?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The Dataset</a:t>
            </a:r>
            <a:endParaRPr lang="en-US" sz="3400" dirty="0"/>
          </a:p>
        </p:txBody>
      </p:sp>
      <p:sp>
        <p:nvSpPr>
          <p:cNvPr id="3" name="Text 1"/>
          <p:cNvSpPr/>
          <p:nvPr/>
        </p:nvSpPr>
        <p:spPr>
          <a:xfrm>
            <a:off x="640080" y="1097280"/>
            <a:ext cx="10972800" cy="457200"/>
          </a:xfrm>
          <a:prstGeom prst="rect">
            <a:avLst/>
          </a:prstGeom>
          <a:noFill/>
          <a:ln/>
        </p:spPr>
        <p:txBody>
          <a:bodyPr wrap="square" rtlCol="0" anchor="ctr"/>
          <a:lstStyle/>
          <a:p>
            <a:pPr indent="0" marL="0">
              <a:buNone/>
            </a:pPr>
            <a:r>
              <a:rPr lang="en-US" sz="1600" i="1" dirty="0">
                <a:solidFill>
                  <a:srgbClr val="6B7B6B"/>
                </a:solidFill>
                <a:latin typeface="Calibri" pitchFamily="34" charset="0"/>
                <a:ea typeface="Calibri" pitchFamily="34" charset="-122"/>
                <a:cs typeface="Calibri" pitchFamily="34" charset="-120"/>
              </a:rPr>
              <a:t>Forest Aerial Images for Segmentation — instructor-approved (Kaggle, quadeer15sh)</a:t>
            </a:r>
            <a:endParaRPr lang="en-US" sz="1600" dirty="0"/>
          </a:p>
        </p:txBody>
      </p:sp>
      <p:sp>
        <p:nvSpPr>
          <p:cNvPr id="4" name="Shape 2"/>
          <p:cNvSpPr/>
          <p:nvPr/>
        </p:nvSpPr>
        <p:spPr>
          <a:xfrm>
            <a:off x="640080" y="1828800"/>
            <a:ext cx="2468880" cy="1463040"/>
          </a:xfrm>
          <a:prstGeom prst="roundRect">
            <a:avLst>
              <a:gd name="adj" fmla="val 5000"/>
            </a:avLst>
          </a:prstGeom>
          <a:solidFill>
            <a:srgbClr val="FFFFFF"/>
          </a:solidFill>
          <a:ln/>
          <a:effectLst>
            <a:outerShdw sx="100000" sy="100000" kx="0" ky="0" algn="bl" rotWithShape="0" blurRad="88900" dist="38100" dir="5400000">
              <a:srgbClr val="000000">
                <a:alpha val="18000"/>
              </a:srgbClr>
            </a:outerShdw>
          </a:effectLst>
        </p:spPr>
      </p:sp>
      <p:sp>
        <p:nvSpPr>
          <p:cNvPr id="5" name="Text 3"/>
          <p:cNvSpPr/>
          <p:nvPr/>
        </p:nvSpPr>
        <p:spPr>
          <a:xfrm>
            <a:off x="640080" y="1965960"/>
            <a:ext cx="2468880" cy="822960"/>
          </a:xfrm>
          <a:prstGeom prst="rect">
            <a:avLst/>
          </a:prstGeom>
          <a:noFill/>
          <a:ln/>
        </p:spPr>
        <p:txBody>
          <a:bodyPr wrap="square" rtlCol="0" anchor="ctr"/>
          <a:lstStyle/>
          <a:p>
            <a:pPr algn="ctr" indent="0" marL="0">
              <a:buNone/>
            </a:pPr>
            <a:r>
              <a:rPr lang="en-US" sz="3800" b="1" dirty="0">
                <a:solidFill>
                  <a:srgbClr val="2C5F2D"/>
                </a:solidFill>
                <a:latin typeface="Cambria" pitchFamily="34" charset="0"/>
                <a:ea typeface="Cambria" pitchFamily="34" charset="-122"/>
                <a:cs typeface="Cambria" pitchFamily="34" charset="-120"/>
              </a:rPr>
              <a:t>5,108</a:t>
            </a:r>
            <a:endParaRPr lang="en-US" sz="3800" dirty="0"/>
          </a:p>
        </p:txBody>
      </p:sp>
      <p:sp>
        <p:nvSpPr>
          <p:cNvPr id="6" name="Text 4"/>
          <p:cNvSpPr/>
          <p:nvPr/>
        </p:nvSpPr>
        <p:spPr>
          <a:xfrm>
            <a:off x="640080" y="2743200"/>
            <a:ext cx="2468880" cy="457200"/>
          </a:xfrm>
          <a:prstGeom prst="rect">
            <a:avLst/>
          </a:prstGeom>
          <a:noFill/>
          <a:ln/>
        </p:spPr>
        <p:txBody>
          <a:bodyPr wrap="square" rtlCol="0" anchor="ctr"/>
          <a:lstStyle/>
          <a:p>
            <a:pPr algn="ctr" indent="0" marL="0">
              <a:buNone/>
            </a:pPr>
            <a:r>
              <a:rPr lang="en-US" sz="1400" dirty="0">
                <a:solidFill>
                  <a:srgbClr val="6B7B6B"/>
                </a:solidFill>
                <a:latin typeface="Calibri" pitchFamily="34" charset="0"/>
                <a:ea typeface="Calibri" pitchFamily="34" charset="-122"/>
                <a:cs typeface="Calibri" pitchFamily="34" charset="-120"/>
              </a:rPr>
              <a:t>total images</a:t>
            </a:r>
            <a:endParaRPr lang="en-US" sz="1400" dirty="0"/>
          </a:p>
        </p:txBody>
      </p:sp>
      <p:sp>
        <p:nvSpPr>
          <p:cNvPr id="7" name="Shape 5"/>
          <p:cNvSpPr/>
          <p:nvPr/>
        </p:nvSpPr>
        <p:spPr>
          <a:xfrm>
            <a:off x="3337560" y="1828800"/>
            <a:ext cx="2468880" cy="1463040"/>
          </a:xfrm>
          <a:prstGeom prst="roundRect">
            <a:avLst>
              <a:gd name="adj" fmla="val 5000"/>
            </a:avLst>
          </a:prstGeom>
          <a:solidFill>
            <a:srgbClr val="FFFFFF"/>
          </a:solidFill>
          <a:ln/>
          <a:effectLst>
            <a:outerShdw sx="100000" sy="100000" kx="0" ky="0" algn="bl" rotWithShape="0" blurRad="88900" dist="38100" dir="5400000">
              <a:srgbClr val="000000">
                <a:alpha val="18000"/>
              </a:srgbClr>
            </a:outerShdw>
          </a:effectLst>
        </p:spPr>
      </p:sp>
      <p:sp>
        <p:nvSpPr>
          <p:cNvPr id="8" name="Text 6"/>
          <p:cNvSpPr/>
          <p:nvPr/>
        </p:nvSpPr>
        <p:spPr>
          <a:xfrm>
            <a:off x="3337560" y="1965960"/>
            <a:ext cx="2468880" cy="822960"/>
          </a:xfrm>
          <a:prstGeom prst="rect">
            <a:avLst/>
          </a:prstGeom>
          <a:noFill/>
          <a:ln/>
        </p:spPr>
        <p:txBody>
          <a:bodyPr wrap="square" rtlCol="0" anchor="ctr"/>
          <a:lstStyle/>
          <a:p>
            <a:pPr algn="ctr" indent="0" marL="0">
              <a:buNone/>
            </a:pPr>
            <a:r>
              <a:rPr lang="en-US" sz="3800" b="1" dirty="0">
                <a:solidFill>
                  <a:srgbClr val="2C5F2D"/>
                </a:solidFill>
                <a:latin typeface="Cambria" pitchFamily="34" charset="0"/>
                <a:ea typeface="Cambria" pitchFamily="34" charset="-122"/>
                <a:cs typeface="Cambria" pitchFamily="34" charset="-120"/>
              </a:rPr>
              <a:t>3,301</a:t>
            </a:r>
            <a:endParaRPr lang="en-US" sz="3800" dirty="0"/>
          </a:p>
        </p:txBody>
      </p:sp>
      <p:sp>
        <p:nvSpPr>
          <p:cNvPr id="9" name="Text 7"/>
          <p:cNvSpPr/>
          <p:nvPr/>
        </p:nvSpPr>
        <p:spPr>
          <a:xfrm>
            <a:off x="3337560" y="2743200"/>
            <a:ext cx="2468880" cy="457200"/>
          </a:xfrm>
          <a:prstGeom prst="rect">
            <a:avLst/>
          </a:prstGeom>
          <a:noFill/>
          <a:ln/>
        </p:spPr>
        <p:txBody>
          <a:bodyPr wrap="square" rtlCol="0" anchor="ctr"/>
          <a:lstStyle/>
          <a:p>
            <a:pPr algn="ctr" indent="0" marL="0">
              <a:buNone/>
            </a:pPr>
            <a:r>
              <a:rPr lang="en-US" sz="1400" dirty="0">
                <a:solidFill>
                  <a:srgbClr val="6B7B6B"/>
                </a:solidFill>
                <a:latin typeface="Calibri" pitchFamily="34" charset="0"/>
                <a:ea typeface="Calibri" pitchFamily="34" charset="-122"/>
                <a:cs typeface="Calibri" pitchFamily="34" charset="-120"/>
              </a:rPr>
              <a:t>forest (64.6%)</a:t>
            </a:r>
            <a:endParaRPr lang="en-US" sz="1400" dirty="0"/>
          </a:p>
        </p:txBody>
      </p:sp>
      <p:sp>
        <p:nvSpPr>
          <p:cNvPr id="10" name="Shape 8"/>
          <p:cNvSpPr/>
          <p:nvPr/>
        </p:nvSpPr>
        <p:spPr>
          <a:xfrm>
            <a:off x="6035040" y="1828800"/>
            <a:ext cx="2468880" cy="1463040"/>
          </a:xfrm>
          <a:prstGeom prst="roundRect">
            <a:avLst>
              <a:gd name="adj" fmla="val 5000"/>
            </a:avLst>
          </a:prstGeom>
          <a:solidFill>
            <a:srgbClr val="FFFFFF"/>
          </a:solidFill>
          <a:ln/>
          <a:effectLst>
            <a:outerShdw sx="100000" sy="100000" kx="0" ky="0" algn="bl" rotWithShape="0" blurRad="88900" dist="38100" dir="5400000">
              <a:srgbClr val="000000">
                <a:alpha val="18000"/>
              </a:srgbClr>
            </a:outerShdw>
          </a:effectLst>
        </p:spPr>
      </p:sp>
      <p:sp>
        <p:nvSpPr>
          <p:cNvPr id="11" name="Text 9"/>
          <p:cNvSpPr/>
          <p:nvPr/>
        </p:nvSpPr>
        <p:spPr>
          <a:xfrm>
            <a:off x="6035040" y="1965960"/>
            <a:ext cx="2468880" cy="822960"/>
          </a:xfrm>
          <a:prstGeom prst="rect">
            <a:avLst/>
          </a:prstGeom>
          <a:noFill/>
          <a:ln/>
        </p:spPr>
        <p:txBody>
          <a:bodyPr wrap="square" rtlCol="0" anchor="ctr"/>
          <a:lstStyle/>
          <a:p>
            <a:pPr algn="ctr" indent="0" marL="0">
              <a:buNone/>
            </a:pPr>
            <a:r>
              <a:rPr lang="en-US" sz="3800" b="1" dirty="0">
                <a:solidFill>
                  <a:srgbClr val="2C5F2D"/>
                </a:solidFill>
                <a:latin typeface="Cambria" pitchFamily="34" charset="0"/>
                <a:ea typeface="Cambria" pitchFamily="34" charset="-122"/>
                <a:cs typeface="Cambria" pitchFamily="34" charset="-120"/>
              </a:rPr>
              <a:t>1,807</a:t>
            </a:r>
            <a:endParaRPr lang="en-US" sz="3800" dirty="0"/>
          </a:p>
        </p:txBody>
      </p:sp>
      <p:sp>
        <p:nvSpPr>
          <p:cNvPr id="12" name="Text 10"/>
          <p:cNvSpPr/>
          <p:nvPr/>
        </p:nvSpPr>
        <p:spPr>
          <a:xfrm>
            <a:off x="6035040" y="2743200"/>
            <a:ext cx="2468880" cy="457200"/>
          </a:xfrm>
          <a:prstGeom prst="rect">
            <a:avLst/>
          </a:prstGeom>
          <a:noFill/>
          <a:ln/>
        </p:spPr>
        <p:txBody>
          <a:bodyPr wrap="square" rtlCol="0" anchor="ctr"/>
          <a:lstStyle/>
          <a:p>
            <a:pPr algn="ctr" indent="0" marL="0">
              <a:buNone/>
            </a:pPr>
            <a:r>
              <a:rPr lang="en-US" sz="1400" dirty="0">
                <a:solidFill>
                  <a:srgbClr val="6B7B6B"/>
                </a:solidFill>
                <a:latin typeface="Calibri" pitchFamily="34" charset="0"/>
                <a:ea typeface="Calibri" pitchFamily="34" charset="-122"/>
                <a:cs typeface="Calibri" pitchFamily="34" charset="-120"/>
              </a:rPr>
              <a:t>non-forest (35.4%)</a:t>
            </a:r>
            <a:endParaRPr lang="en-US" sz="1400" dirty="0"/>
          </a:p>
        </p:txBody>
      </p:sp>
      <p:sp>
        <p:nvSpPr>
          <p:cNvPr id="13" name="Shape 11"/>
          <p:cNvSpPr/>
          <p:nvPr/>
        </p:nvSpPr>
        <p:spPr>
          <a:xfrm>
            <a:off x="8732520" y="1828800"/>
            <a:ext cx="2468880" cy="1463040"/>
          </a:xfrm>
          <a:prstGeom prst="roundRect">
            <a:avLst>
              <a:gd name="adj" fmla="val 5000"/>
            </a:avLst>
          </a:prstGeom>
          <a:solidFill>
            <a:srgbClr val="FFFFFF"/>
          </a:solidFill>
          <a:ln/>
          <a:effectLst>
            <a:outerShdw sx="100000" sy="100000" kx="0" ky="0" algn="bl" rotWithShape="0" blurRad="88900" dist="38100" dir="5400000">
              <a:srgbClr val="000000">
                <a:alpha val="18000"/>
              </a:srgbClr>
            </a:outerShdw>
          </a:effectLst>
        </p:spPr>
      </p:sp>
      <p:sp>
        <p:nvSpPr>
          <p:cNvPr id="14" name="Text 12"/>
          <p:cNvSpPr/>
          <p:nvPr/>
        </p:nvSpPr>
        <p:spPr>
          <a:xfrm>
            <a:off x="8732520" y="1965960"/>
            <a:ext cx="2468880" cy="822960"/>
          </a:xfrm>
          <a:prstGeom prst="rect">
            <a:avLst/>
          </a:prstGeom>
          <a:noFill/>
          <a:ln/>
        </p:spPr>
        <p:txBody>
          <a:bodyPr wrap="square" rtlCol="0" anchor="ctr"/>
          <a:lstStyle/>
          <a:p>
            <a:pPr algn="ctr" indent="0" marL="0">
              <a:buNone/>
            </a:pPr>
            <a:r>
              <a:rPr lang="en-US" sz="3800" b="1" dirty="0">
                <a:solidFill>
                  <a:srgbClr val="2C5F2D"/>
                </a:solidFill>
                <a:latin typeface="Cambria" pitchFamily="34" charset="0"/>
                <a:ea typeface="Cambria" pitchFamily="34" charset="-122"/>
                <a:cs typeface="Cambria" pitchFamily="34" charset="-120"/>
              </a:rPr>
              <a:t>2</a:t>
            </a:r>
            <a:endParaRPr lang="en-US" sz="3800" dirty="0"/>
          </a:p>
        </p:txBody>
      </p:sp>
      <p:sp>
        <p:nvSpPr>
          <p:cNvPr id="15" name="Text 13"/>
          <p:cNvSpPr/>
          <p:nvPr/>
        </p:nvSpPr>
        <p:spPr>
          <a:xfrm>
            <a:off x="8732520" y="2743200"/>
            <a:ext cx="2468880" cy="457200"/>
          </a:xfrm>
          <a:prstGeom prst="rect">
            <a:avLst/>
          </a:prstGeom>
          <a:noFill/>
          <a:ln/>
        </p:spPr>
        <p:txBody>
          <a:bodyPr wrap="square" rtlCol="0" anchor="ctr"/>
          <a:lstStyle/>
          <a:p>
            <a:pPr algn="ctr" indent="0" marL="0">
              <a:buNone/>
            </a:pPr>
            <a:r>
              <a:rPr lang="en-US" sz="1400" dirty="0">
                <a:solidFill>
                  <a:srgbClr val="6B7B6B"/>
                </a:solidFill>
                <a:latin typeface="Calibri" pitchFamily="34" charset="0"/>
                <a:ea typeface="Calibri" pitchFamily="34" charset="-122"/>
                <a:cs typeface="Calibri" pitchFamily="34" charset="-120"/>
              </a:rPr>
              <a:t>classes</a:t>
            </a:r>
            <a:endParaRPr lang="en-US" sz="1400" dirty="0"/>
          </a:p>
        </p:txBody>
      </p:sp>
      <p:pic>
        <p:nvPicPr>
          <p:cNvPr id="16" name="Image 0" descr="Figures/fig_class_distribution.png">    </p:cNvPr>
          <p:cNvPicPr>
            <a:picLocks noChangeAspect="1"/>
          </p:cNvPicPr>
          <p:nvPr/>
        </p:nvPicPr>
        <p:blipFill>
          <a:blip r:embed="rId1"/>
          <a:stretch>
            <a:fillRect/>
          </a:stretch>
        </p:blipFill>
        <p:spPr>
          <a:xfrm>
            <a:off x="3657600" y="3611880"/>
            <a:ext cx="4846320" cy="2743200"/>
          </a:xfrm>
          <a:prstGeom prst="rect">
            <a:avLst/>
          </a:prstGeom>
        </p:spPr>
      </p:pic>
      <p:sp>
        <p:nvSpPr>
          <p:cNvPr id="17" name="Text 14"/>
          <p:cNvSpPr/>
          <p:nvPr/>
        </p:nvSpPr>
        <p:spPr>
          <a:xfrm>
            <a:off x="640080" y="3749040"/>
            <a:ext cx="2834640" cy="2560320"/>
          </a:xfrm>
          <a:prstGeom prst="rect">
            <a:avLst/>
          </a:prstGeom>
          <a:noFill/>
          <a:ln/>
        </p:spPr>
        <p:txBody>
          <a:bodyPr wrap="square" rtlCol="0" anchor="t"/>
          <a:lstStyle/>
          <a:p>
            <a:pPr indent="0" marL="0">
              <a:spcAft>
                <a:spcPts val="800"/>
              </a:spcAft>
              <a:buNone/>
            </a:pPr>
            <a:r>
              <a:rPr lang="en-US" sz="1600" b="1" dirty="0">
                <a:solidFill>
                  <a:srgbClr val="2C5F2D"/>
                </a:solidFill>
                <a:latin typeface="Calibri" pitchFamily="34" charset="0"/>
                <a:ea typeface="Calibri" pitchFamily="34" charset="-122"/>
                <a:cs typeface="Calibri" pitchFamily="34" charset="-120"/>
              </a:rPr>
              <a:t>Class definitions</a:t>
            </a:r>
            <a:endParaRPr lang="en-US" sz="1600" dirty="0"/>
          </a:p>
          <a:p>
            <a:pPr indent="0" marL="0">
              <a:spcAft>
                <a:spcPts val="800"/>
              </a:spcAft>
              <a:buNone/>
            </a:pPr>
            <a:r>
              <a:rPr lang="en-US" sz="1300" dirty="0">
                <a:solidFill>
                  <a:srgbClr val="2E2E2E"/>
                </a:solidFill>
                <a:latin typeface="Calibri" pitchFamily="34" charset="0"/>
                <a:ea typeface="Calibri" pitchFamily="34" charset="-122"/>
                <a:cs typeface="Calibri" pitchFamily="34" charset="-120"/>
              </a:rPr>
              <a:t>Forest: dense green canopy, irregular organic texture, continuous cover.</a:t>
            </a:r>
            <a:endParaRPr lang="en-US" sz="1600" dirty="0"/>
          </a:p>
          <a:p>
            <a:pPr indent="0" marL="0">
              <a:spcAft>
                <a:spcPts val="800"/>
              </a:spcAft>
              <a:buNone/>
            </a:pPr>
            <a:r>
              <a:rPr lang="en-US" sz="1300" dirty="0">
                <a:solidFill>
                  <a:srgbClr val="2E2E2E"/>
                </a:solidFill>
                <a:latin typeface="Calibri" pitchFamily="34" charset="0"/>
                <a:ea typeface="Calibri" pitchFamily="34" charset="-122"/>
                <a:cs typeface="Calibri" pitchFamily="34" charset="-120"/>
              </a:rPr>
              <a:t>Non-Forest: cleared land, soil, water, or built structures — lighter, more regular patterns.</a:t>
            </a:r>
            <a:endParaRPr lang="en-US" sz="1600" dirty="0"/>
          </a:p>
          <a:p>
            <a:pPr indent="0" marL="0">
              <a:spcAft>
                <a:spcPts val="800"/>
              </a:spcAft>
              <a:buNone/>
            </a:pPr>
            <a:r>
              <a:rPr lang="en-US" sz="1300" i="1" dirty="0">
                <a:solidFill>
                  <a:srgbClr val="6B7B6B"/>
                </a:solidFill>
                <a:latin typeface="Calibri" pitchFamily="34" charset="0"/>
                <a:ea typeface="Calibri" pitchFamily="34" charset="-122"/>
                <a:cs typeface="Calibri" pitchFamily="34" charset="-120"/>
              </a:rPr>
              <a:t>Imbalance of 1.83 : 1 handled via class weighting.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91440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Methodology &amp; Workflow</a:t>
            </a:r>
            <a:endParaRPr lang="en-US" sz="3400" dirty="0"/>
          </a:p>
        </p:txBody>
      </p:sp>
      <p:pic>
        <p:nvPicPr>
          <p:cNvPr id="3" name="Image 0" descr="Figures/fig_workflow.png">    </p:cNvPr>
          <p:cNvPicPr>
            <a:picLocks noChangeAspect="1"/>
          </p:cNvPicPr>
          <p:nvPr/>
        </p:nvPicPr>
        <p:blipFill>
          <a:blip r:embed="rId1"/>
          <a:srcRect l="0" r="0" t="0" b="0"/>
          <a:stretch/>
        </p:blipFill>
        <p:spPr>
          <a:xfrm>
            <a:off x="548640" y="1280160"/>
            <a:ext cx="11064240" cy="3291840"/>
          </a:xfrm>
          <a:prstGeom prst="rect">
            <a:avLst/>
          </a:prstGeom>
        </p:spPr>
      </p:pic>
      <p:sp>
        <p:nvSpPr>
          <p:cNvPr id="4" name="Text 1"/>
          <p:cNvSpPr/>
          <p:nvPr/>
        </p:nvSpPr>
        <p:spPr>
          <a:xfrm>
            <a:off x="640080" y="5669280"/>
            <a:ext cx="10972800" cy="731520"/>
          </a:xfrm>
          <a:prstGeom prst="rect">
            <a:avLst/>
          </a:prstGeom>
          <a:noFill/>
          <a:ln/>
        </p:spPr>
        <p:txBody>
          <a:bodyPr wrap="square" rtlCol="0" anchor="ctr"/>
          <a:lstStyle/>
          <a:p>
            <a:pPr algn="ctr" indent="0" marL="0">
              <a:buNone/>
            </a:pPr>
            <a:r>
              <a:rPr lang="en-US" sz="1400" i="1" dirty="0">
                <a:solidFill>
                  <a:srgbClr val="6B7B6B"/>
                </a:solidFill>
                <a:latin typeface="Calibri" pitchFamily="34" charset="0"/>
                <a:ea typeface="Calibri" pitchFamily="34" charset="-122"/>
                <a:cs typeface="Calibri" pitchFamily="34" charset="-120"/>
              </a:rPr>
              <a:t>Experimental &amp; quantitative design  ·  binary classification  ·  comparative (Custom CNN vs MobileNetV2)  ·  dual explainability (Grad-CAM + SHAP)  ·  held-out test evaluation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365760"/>
            <a:ext cx="91440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The CNN Models</a:t>
            </a:r>
            <a:endParaRPr lang="en-US" sz="3400" dirty="0"/>
          </a:p>
        </p:txBody>
      </p:sp>
      <p:pic>
        <p:nvPicPr>
          <p:cNvPr id="3" name="Image 0" descr="Figures/fig_cnn_architecture.png">    </p:cNvPr>
          <p:cNvPicPr>
            <a:picLocks noChangeAspect="1"/>
          </p:cNvPicPr>
          <p:nvPr/>
        </p:nvPicPr>
        <p:blipFill>
          <a:blip r:embed="rId1"/>
          <a:srcRect l="0" r="0" t="0" b="0"/>
          <a:stretch/>
        </p:blipFill>
        <p:spPr>
          <a:xfrm>
            <a:off x="548640" y="1188720"/>
            <a:ext cx="11064240" cy="3017520"/>
          </a:xfrm>
          <a:prstGeom prst="rect">
            <a:avLst/>
          </a:prstGeom>
        </p:spPr>
      </p:pic>
      <p:sp>
        <p:nvSpPr>
          <p:cNvPr id="4" name="Shape 1"/>
          <p:cNvSpPr/>
          <p:nvPr/>
        </p:nvSpPr>
        <p:spPr>
          <a:xfrm>
            <a:off x="640080" y="4480560"/>
            <a:ext cx="5394960" cy="1828800"/>
          </a:xfrm>
          <a:prstGeom prst="roundRect">
            <a:avLst>
              <a:gd name="adj" fmla="val 4000"/>
            </a:avLst>
          </a:prstGeom>
          <a:solidFill>
            <a:srgbClr val="FFFFFF"/>
          </a:solidFill>
          <a:ln/>
          <a:effectLst>
            <a:outerShdw sx="100000" sy="100000" kx="0" ky="0" algn="bl" rotWithShape="0" blurRad="88900" dist="38100" dir="5400000">
              <a:srgbClr val="000000">
                <a:alpha val="18000"/>
              </a:srgbClr>
            </a:outerShdw>
          </a:effectLst>
        </p:spPr>
      </p:sp>
      <p:sp>
        <p:nvSpPr>
          <p:cNvPr id="5" name="Text 2"/>
          <p:cNvSpPr/>
          <p:nvPr/>
        </p:nvSpPr>
        <p:spPr>
          <a:xfrm>
            <a:off x="868680" y="4617720"/>
            <a:ext cx="4937760" cy="1554480"/>
          </a:xfrm>
          <a:prstGeom prst="rect">
            <a:avLst/>
          </a:prstGeom>
          <a:noFill/>
          <a:ln/>
        </p:spPr>
        <p:txBody>
          <a:bodyPr wrap="square" rtlCol="0" anchor="t"/>
          <a:lstStyle/>
          <a:p>
            <a:pPr indent="0" marL="0">
              <a:spcAft>
                <a:spcPts val="600"/>
              </a:spcAft>
              <a:buNone/>
            </a:pPr>
            <a:r>
              <a:rPr lang="en-US" sz="1700" b="1" dirty="0">
                <a:solidFill>
                  <a:srgbClr val="2C5F2D"/>
                </a:solidFill>
                <a:latin typeface="Calibri" pitchFamily="34" charset="0"/>
                <a:ea typeface="Calibri" pitchFamily="34" charset="-122"/>
                <a:cs typeface="Calibri" pitchFamily="34" charset="-120"/>
              </a:rPr>
              <a:t>Custom CNN (baseline)</a:t>
            </a:r>
            <a:endParaRPr lang="en-US" sz="1700" dirty="0"/>
          </a:p>
          <a:p>
            <a:pPr indent="0" marL="0">
              <a:spcAft>
                <a:spcPts val="600"/>
              </a:spcAft>
              <a:buNone/>
            </a:pPr>
            <a:r>
              <a:rPr lang="en-US" sz="1300" dirty="0">
                <a:solidFill>
                  <a:srgbClr val="2E2E2E"/>
                </a:solidFill>
                <a:latin typeface="Calibri" pitchFamily="34" charset="0"/>
                <a:ea typeface="Calibri" pitchFamily="34" charset="-122"/>
                <a:cs typeface="Calibri" pitchFamily="34" charset="-120"/>
              </a:rPr>
              <a:t>3 conv blocks (32→64→128) · max-pool · dense 128 · dropout 0.5 · sigmoid output · binary cross-entropy.</a:t>
            </a:r>
            <a:endParaRPr lang="en-US" sz="1700" dirty="0"/>
          </a:p>
        </p:txBody>
      </p:sp>
      <p:sp>
        <p:nvSpPr>
          <p:cNvPr id="6" name="Shape 3"/>
          <p:cNvSpPr/>
          <p:nvPr/>
        </p:nvSpPr>
        <p:spPr>
          <a:xfrm>
            <a:off x="6217920" y="4480560"/>
            <a:ext cx="5394960" cy="1828800"/>
          </a:xfrm>
          <a:prstGeom prst="roundRect">
            <a:avLst>
              <a:gd name="adj" fmla="val 4000"/>
            </a:avLst>
          </a:prstGeom>
          <a:solidFill>
            <a:srgbClr val="FFFFFF"/>
          </a:solidFill>
          <a:ln/>
          <a:effectLst>
            <a:outerShdw sx="100000" sy="100000" kx="0" ky="0" algn="bl" rotWithShape="0" blurRad="88900" dist="38100" dir="5400000">
              <a:srgbClr val="000000">
                <a:alpha val="18000"/>
              </a:srgbClr>
            </a:outerShdw>
          </a:effectLst>
        </p:spPr>
      </p:sp>
      <p:sp>
        <p:nvSpPr>
          <p:cNvPr id="7" name="Text 4"/>
          <p:cNvSpPr/>
          <p:nvPr/>
        </p:nvSpPr>
        <p:spPr>
          <a:xfrm>
            <a:off x="6446520" y="4617720"/>
            <a:ext cx="4937760" cy="1554480"/>
          </a:xfrm>
          <a:prstGeom prst="rect">
            <a:avLst/>
          </a:prstGeom>
          <a:noFill/>
          <a:ln/>
        </p:spPr>
        <p:txBody>
          <a:bodyPr wrap="square" rtlCol="0" anchor="t"/>
          <a:lstStyle/>
          <a:p>
            <a:pPr indent="0" marL="0">
              <a:spcAft>
                <a:spcPts val="600"/>
              </a:spcAft>
              <a:buNone/>
            </a:pPr>
            <a:r>
              <a:rPr lang="en-US" sz="1700" b="1" dirty="0">
                <a:solidFill>
                  <a:srgbClr val="2C5F2D"/>
                </a:solidFill>
                <a:latin typeface="Calibri" pitchFamily="34" charset="0"/>
                <a:ea typeface="Calibri" pitchFamily="34" charset="-122"/>
                <a:cs typeface="Calibri" pitchFamily="34" charset="-120"/>
              </a:rPr>
              <a:t>MobileNetV2 (transfer learning)</a:t>
            </a:r>
            <a:endParaRPr lang="en-US" sz="1700" dirty="0"/>
          </a:p>
          <a:p>
            <a:pPr indent="0" marL="0">
              <a:spcAft>
                <a:spcPts val="600"/>
              </a:spcAft>
              <a:buNone/>
            </a:pPr>
            <a:r>
              <a:rPr lang="en-US" sz="1300" dirty="0">
                <a:solidFill>
                  <a:srgbClr val="2E2E2E"/>
                </a:solidFill>
                <a:latin typeface="Calibri" pitchFamily="34" charset="0"/>
                <a:ea typeface="Calibri" pitchFamily="34" charset="-122"/>
                <a:cs typeface="Calibri" pitchFamily="34" charset="-120"/>
              </a:rPr>
              <a:t>ImageNet-pretrained MobileNetV2 backbone · depthwise-separable convs · new head · two-stage: frozen then fine-tuned.</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1C"/>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Implementation Workflow</a:t>
            </a:r>
            <a:endParaRPr lang="en-US" sz="3400" dirty="0"/>
          </a:p>
        </p:txBody>
      </p:sp>
      <p:sp>
        <p:nvSpPr>
          <p:cNvPr id="3" name="Shape 1"/>
          <p:cNvSpPr/>
          <p:nvPr/>
        </p:nvSpPr>
        <p:spPr>
          <a:xfrm>
            <a:off x="640080" y="1554480"/>
            <a:ext cx="3520440" cy="2103120"/>
          </a:xfrm>
          <a:prstGeom prst="roundRect">
            <a:avLst>
              <a:gd name="adj" fmla="val 3478"/>
            </a:avLst>
          </a:prstGeom>
          <a:solidFill>
            <a:srgbClr val="2C5F2D"/>
          </a:solidFill>
          <a:ln/>
        </p:spPr>
      </p:sp>
      <p:sp>
        <p:nvSpPr>
          <p:cNvPr id="4" name="Shape 2"/>
          <p:cNvSpPr/>
          <p:nvPr/>
        </p:nvSpPr>
        <p:spPr>
          <a:xfrm>
            <a:off x="914400" y="1828800"/>
            <a:ext cx="640080" cy="640080"/>
          </a:xfrm>
          <a:prstGeom prst="ellipse">
            <a:avLst/>
          </a:prstGeom>
          <a:solidFill>
            <a:srgbClr val="97BC62"/>
          </a:solidFill>
          <a:ln/>
        </p:spPr>
      </p:sp>
      <p:sp>
        <p:nvSpPr>
          <p:cNvPr id="5" name="Text 3"/>
          <p:cNvSpPr/>
          <p:nvPr/>
        </p:nvSpPr>
        <p:spPr>
          <a:xfrm>
            <a:off x="914400" y="182880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914400" y="256032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Preprocess</a:t>
            </a:r>
            <a:endParaRPr lang="en-US" sz="2000" dirty="0"/>
          </a:p>
        </p:txBody>
      </p:sp>
      <p:sp>
        <p:nvSpPr>
          <p:cNvPr id="7" name="Text 5"/>
          <p:cNvSpPr/>
          <p:nvPr/>
        </p:nvSpPr>
        <p:spPr>
          <a:xfrm>
            <a:off x="914400" y="301752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Resize 128×128, normalise to [0,1], RGB</a:t>
            </a:r>
            <a:endParaRPr lang="en-US" sz="1300" dirty="0"/>
          </a:p>
        </p:txBody>
      </p:sp>
      <p:sp>
        <p:nvSpPr>
          <p:cNvPr id="8" name="Shape 6"/>
          <p:cNvSpPr/>
          <p:nvPr/>
        </p:nvSpPr>
        <p:spPr>
          <a:xfrm>
            <a:off x="4389120" y="1554480"/>
            <a:ext cx="3520440" cy="2103120"/>
          </a:xfrm>
          <a:prstGeom prst="roundRect">
            <a:avLst>
              <a:gd name="adj" fmla="val 3478"/>
            </a:avLst>
          </a:prstGeom>
          <a:solidFill>
            <a:srgbClr val="2C5F2D"/>
          </a:solidFill>
          <a:ln/>
        </p:spPr>
      </p:sp>
      <p:sp>
        <p:nvSpPr>
          <p:cNvPr id="9" name="Shape 7"/>
          <p:cNvSpPr/>
          <p:nvPr/>
        </p:nvSpPr>
        <p:spPr>
          <a:xfrm>
            <a:off x="4663440" y="1828800"/>
            <a:ext cx="640080" cy="640080"/>
          </a:xfrm>
          <a:prstGeom prst="ellipse">
            <a:avLst/>
          </a:prstGeom>
          <a:solidFill>
            <a:srgbClr val="97BC62"/>
          </a:solidFill>
          <a:ln/>
        </p:spPr>
      </p:sp>
      <p:sp>
        <p:nvSpPr>
          <p:cNvPr id="10" name="Text 8"/>
          <p:cNvSpPr/>
          <p:nvPr/>
        </p:nvSpPr>
        <p:spPr>
          <a:xfrm>
            <a:off x="4663440" y="182880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4663440" y="256032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Split</a:t>
            </a:r>
            <a:endParaRPr lang="en-US" sz="2000" dirty="0"/>
          </a:p>
        </p:txBody>
      </p:sp>
      <p:sp>
        <p:nvSpPr>
          <p:cNvPr id="12" name="Text 10"/>
          <p:cNvSpPr/>
          <p:nvPr/>
        </p:nvSpPr>
        <p:spPr>
          <a:xfrm>
            <a:off x="4663440" y="301752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Stratified 70 / 15 / 15, no leakage</a:t>
            </a:r>
            <a:endParaRPr lang="en-US" sz="1300" dirty="0"/>
          </a:p>
        </p:txBody>
      </p:sp>
      <p:sp>
        <p:nvSpPr>
          <p:cNvPr id="13" name="Shape 11"/>
          <p:cNvSpPr/>
          <p:nvPr/>
        </p:nvSpPr>
        <p:spPr>
          <a:xfrm>
            <a:off x="8138160" y="1554480"/>
            <a:ext cx="3520440" cy="2103120"/>
          </a:xfrm>
          <a:prstGeom prst="roundRect">
            <a:avLst>
              <a:gd name="adj" fmla="val 3478"/>
            </a:avLst>
          </a:prstGeom>
          <a:solidFill>
            <a:srgbClr val="2C5F2D"/>
          </a:solidFill>
          <a:ln/>
        </p:spPr>
      </p:sp>
      <p:sp>
        <p:nvSpPr>
          <p:cNvPr id="14" name="Shape 12"/>
          <p:cNvSpPr/>
          <p:nvPr/>
        </p:nvSpPr>
        <p:spPr>
          <a:xfrm>
            <a:off x="8412480" y="1828800"/>
            <a:ext cx="640080" cy="640080"/>
          </a:xfrm>
          <a:prstGeom prst="ellipse">
            <a:avLst/>
          </a:prstGeom>
          <a:solidFill>
            <a:srgbClr val="97BC62"/>
          </a:solidFill>
          <a:ln/>
        </p:spPr>
      </p:sp>
      <p:sp>
        <p:nvSpPr>
          <p:cNvPr id="15" name="Text 13"/>
          <p:cNvSpPr/>
          <p:nvPr/>
        </p:nvSpPr>
        <p:spPr>
          <a:xfrm>
            <a:off x="8412480" y="182880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8412480" y="256032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Augment</a:t>
            </a:r>
            <a:endParaRPr lang="en-US" sz="2000" dirty="0"/>
          </a:p>
        </p:txBody>
      </p:sp>
      <p:sp>
        <p:nvSpPr>
          <p:cNvPr id="17" name="Text 15"/>
          <p:cNvSpPr/>
          <p:nvPr/>
        </p:nvSpPr>
        <p:spPr>
          <a:xfrm>
            <a:off x="8412480" y="301752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Flip, rotate, zoom, brightness (train only)</a:t>
            </a:r>
            <a:endParaRPr lang="en-US" sz="1300" dirty="0"/>
          </a:p>
        </p:txBody>
      </p:sp>
      <p:sp>
        <p:nvSpPr>
          <p:cNvPr id="18" name="Shape 16"/>
          <p:cNvSpPr/>
          <p:nvPr/>
        </p:nvSpPr>
        <p:spPr>
          <a:xfrm>
            <a:off x="640080" y="3931920"/>
            <a:ext cx="3520440" cy="2103120"/>
          </a:xfrm>
          <a:prstGeom prst="roundRect">
            <a:avLst>
              <a:gd name="adj" fmla="val 3478"/>
            </a:avLst>
          </a:prstGeom>
          <a:solidFill>
            <a:srgbClr val="2C5F2D"/>
          </a:solidFill>
          <a:ln/>
        </p:spPr>
      </p:sp>
      <p:sp>
        <p:nvSpPr>
          <p:cNvPr id="19" name="Shape 17"/>
          <p:cNvSpPr/>
          <p:nvPr/>
        </p:nvSpPr>
        <p:spPr>
          <a:xfrm>
            <a:off x="914400" y="4206240"/>
            <a:ext cx="640080" cy="640080"/>
          </a:xfrm>
          <a:prstGeom prst="ellipse">
            <a:avLst/>
          </a:prstGeom>
          <a:solidFill>
            <a:srgbClr val="97BC62"/>
          </a:solidFill>
          <a:ln/>
        </p:spPr>
      </p:sp>
      <p:sp>
        <p:nvSpPr>
          <p:cNvPr id="20" name="Text 18"/>
          <p:cNvSpPr/>
          <p:nvPr/>
        </p:nvSpPr>
        <p:spPr>
          <a:xfrm>
            <a:off x="914400" y="420624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4</a:t>
            </a:r>
            <a:endParaRPr lang="en-US" sz="2600" dirty="0"/>
          </a:p>
        </p:txBody>
      </p:sp>
      <p:sp>
        <p:nvSpPr>
          <p:cNvPr id="21" name="Text 19"/>
          <p:cNvSpPr/>
          <p:nvPr/>
        </p:nvSpPr>
        <p:spPr>
          <a:xfrm>
            <a:off x="914400" y="493776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Train</a:t>
            </a:r>
            <a:endParaRPr lang="en-US" sz="2000" dirty="0"/>
          </a:p>
        </p:txBody>
      </p:sp>
      <p:sp>
        <p:nvSpPr>
          <p:cNvPr id="22" name="Text 20"/>
          <p:cNvSpPr/>
          <p:nvPr/>
        </p:nvSpPr>
        <p:spPr>
          <a:xfrm>
            <a:off x="914400" y="539496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Adam + binary cross-entropy + class weights</a:t>
            </a:r>
            <a:endParaRPr lang="en-US" sz="1300" dirty="0"/>
          </a:p>
        </p:txBody>
      </p:sp>
      <p:sp>
        <p:nvSpPr>
          <p:cNvPr id="23" name="Shape 21"/>
          <p:cNvSpPr/>
          <p:nvPr/>
        </p:nvSpPr>
        <p:spPr>
          <a:xfrm>
            <a:off x="4389120" y="3931920"/>
            <a:ext cx="3520440" cy="2103120"/>
          </a:xfrm>
          <a:prstGeom prst="roundRect">
            <a:avLst>
              <a:gd name="adj" fmla="val 3478"/>
            </a:avLst>
          </a:prstGeom>
          <a:solidFill>
            <a:srgbClr val="2C5F2D"/>
          </a:solidFill>
          <a:ln/>
        </p:spPr>
      </p:sp>
      <p:sp>
        <p:nvSpPr>
          <p:cNvPr id="24" name="Shape 22"/>
          <p:cNvSpPr/>
          <p:nvPr/>
        </p:nvSpPr>
        <p:spPr>
          <a:xfrm>
            <a:off x="4663440" y="4206240"/>
            <a:ext cx="640080" cy="640080"/>
          </a:xfrm>
          <a:prstGeom prst="ellipse">
            <a:avLst/>
          </a:prstGeom>
          <a:solidFill>
            <a:srgbClr val="97BC62"/>
          </a:solidFill>
          <a:ln/>
        </p:spPr>
      </p:sp>
      <p:sp>
        <p:nvSpPr>
          <p:cNvPr id="25" name="Text 23"/>
          <p:cNvSpPr/>
          <p:nvPr/>
        </p:nvSpPr>
        <p:spPr>
          <a:xfrm>
            <a:off x="4663440" y="420624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5</a:t>
            </a:r>
            <a:endParaRPr lang="en-US" sz="2600" dirty="0"/>
          </a:p>
        </p:txBody>
      </p:sp>
      <p:sp>
        <p:nvSpPr>
          <p:cNvPr id="26" name="Text 24"/>
          <p:cNvSpPr/>
          <p:nvPr/>
        </p:nvSpPr>
        <p:spPr>
          <a:xfrm>
            <a:off x="4663440" y="493776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Evaluate</a:t>
            </a:r>
            <a:endParaRPr lang="en-US" sz="2000" dirty="0"/>
          </a:p>
        </p:txBody>
      </p:sp>
      <p:sp>
        <p:nvSpPr>
          <p:cNvPr id="27" name="Text 25"/>
          <p:cNvSpPr/>
          <p:nvPr/>
        </p:nvSpPr>
        <p:spPr>
          <a:xfrm>
            <a:off x="4663440" y="539496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6 metrics + confusion matrix on test set</a:t>
            </a:r>
            <a:endParaRPr lang="en-US" sz="1300" dirty="0"/>
          </a:p>
        </p:txBody>
      </p:sp>
      <p:sp>
        <p:nvSpPr>
          <p:cNvPr id="28" name="Shape 26"/>
          <p:cNvSpPr/>
          <p:nvPr/>
        </p:nvSpPr>
        <p:spPr>
          <a:xfrm>
            <a:off x="8138160" y="3931920"/>
            <a:ext cx="3520440" cy="2103120"/>
          </a:xfrm>
          <a:prstGeom prst="roundRect">
            <a:avLst>
              <a:gd name="adj" fmla="val 3478"/>
            </a:avLst>
          </a:prstGeom>
          <a:solidFill>
            <a:srgbClr val="2C5F2D"/>
          </a:solidFill>
          <a:ln/>
        </p:spPr>
      </p:sp>
      <p:sp>
        <p:nvSpPr>
          <p:cNvPr id="29" name="Shape 27"/>
          <p:cNvSpPr/>
          <p:nvPr/>
        </p:nvSpPr>
        <p:spPr>
          <a:xfrm>
            <a:off x="8412480" y="4206240"/>
            <a:ext cx="640080" cy="640080"/>
          </a:xfrm>
          <a:prstGeom prst="ellipse">
            <a:avLst/>
          </a:prstGeom>
          <a:solidFill>
            <a:srgbClr val="97BC62"/>
          </a:solidFill>
          <a:ln/>
        </p:spPr>
      </p:sp>
      <p:sp>
        <p:nvSpPr>
          <p:cNvPr id="30" name="Text 28"/>
          <p:cNvSpPr/>
          <p:nvPr/>
        </p:nvSpPr>
        <p:spPr>
          <a:xfrm>
            <a:off x="8412480" y="4206240"/>
            <a:ext cx="640080" cy="640080"/>
          </a:xfrm>
          <a:prstGeom prst="rect">
            <a:avLst/>
          </a:prstGeom>
          <a:noFill/>
          <a:ln/>
        </p:spPr>
        <p:txBody>
          <a:bodyPr wrap="square" rtlCol="0" anchor="ctr"/>
          <a:lstStyle/>
          <a:p>
            <a:pPr algn="ctr" indent="0" marL="0">
              <a:buNone/>
            </a:pPr>
            <a:r>
              <a:rPr lang="en-US" sz="2600" b="1" dirty="0">
                <a:solidFill>
                  <a:srgbClr val="1B3A1C"/>
                </a:solidFill>
                <a:latin typeface="Cambria" pitchFamily="34" charset="0"/>
                <a:ea typeface="Cambria" pitchFamily="34" charset="-122"/>
                <a:cs typeface="Cambria" pitchFamily="34" charset="-120"/>
              </a:rPr>
              <a:t>6</a:t>
            </a:r>
            <a:endParaRPr lang="en-US" sz="2600" dirty="0"/>
          </a:p>
        </p:txBody>
      </p:sp>
      <p:sp>
        <p:nvSpPr>
          <p:cNvPr id="31" name="Text 29"/>
          <p:cNvSpPr/>
          <p:nvPr/>
        </p:nvSpPr>
        <p:spPr>
          <a:xfrm>
            <a:off x="8412480" y="4937760"/>
            <a:ext cx="29718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Explain</a:t>
            </a:r>
            <a:endParaRPr lang="en-US" sz="2000" dirty="0"/>
          </a:p>
        </p:txBody>
      </p:sp>
      <p:sp>
        <p:nvSpPr>
          <p:cNvPr id="32" name="Text 30"/>
          <p:cNvSpPr/>
          <p:nvPr/>
        </p:nvSpPr>
        <p:spPr>
          <a:xfrm>
            <a:off x="8412480" y="5394960"/>
            <a:ext cx="2971800" cy="548640"/>
          </a:xfrm>
          <a:prstGeom prst="rect">
            <a:avLst/>
          </a:prstGeom>
          <a:noFill/>
          <a:ln/>
        </p:spPr>
        <p:txBody>
          <a:bodyPr wrap="square" rtlCol="0" anchor="ctr"/>
          <a:lstStyle/>
          <a:p>
            <a:pPr indent="0" marL="0">
              <a:buNone/>
            </a:pPr>
            <a:r>
              <a:rPr lang="en-US" sz="1300" dirty="0">
                <a:solidFill>
                  <a:srgbClr val="F5F5F5"/>
                </a:solidFill>
                <a:latin typeface="Calibri" pitchFamily="34" charset="0"/>
                <a:ea typeface="Calibri" pitchFamily="34" charset="-122"/>
                <a:cs typeface="Calibri" pitchFamily="34" charset="-120"/>
              </a:rPr>
              <a:t>Grad-CAM + SHAP on sample test images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Main Results</a:t>
            </a:r>
            <a:endParaRPr lang="en-US" sz="3400" dirty="0"/>
          </a:p>
        </p:txBody>
      </p:sp>
      <p:sp>
        <p:nvSpPr>
          <p:cNvPr id="3" name="Text 1"/>
          <p:cNvSpPr/>
          <p:nvPr/>
        </p:nvSpPr>
        <p:spPr>
          <a:xfrm>
            <a:off x="640080" y="1005840"/>
            <a:ext cx="10058400" cy="457200"/>
          </a:xfrm>
          <a:prstGeom prst="rect">
            <a:avLst/>
          </a:prstGeom>
          <a:noFill/>
          <a:ln/>
        </p:spPr>
        <p:txBody>
          <a:bodyPr wrap="square" rtlCol="0" anchor="ctr"/>
          <a:lstStyle/>
          <a:p>
            <a:pPr indent="0" marL="0">
              <a:buNone/>
            </a:pPr>
            <a:r>
              <a:rPr lang="en-US" sz="1700" i="1" dirty="0">
                <a:solidFill>
                  <a:srgbClr val="6B7B6B"/>
                </a:solidFill>
                <a:latin typeface="Calibri" pitchFamily="34" charset="0"/>
                <a:ea typeface="Calibri" pitchFamily="34" charset="-122"/>
                <a:cs typeface="Calibri" pitchFamily="34" charset="-120"/>
              </a:rPr>
              <a:t>Custom CNN outperforms MobileNetV2 on accuracy, F1, and AUC</a:t>
            </a:r>
            <a:endParaRPr lang="en-US" sz="1700" dirty="0"/>
          </a:p>
        </p:txBody>
      </p:sp>
      <p:graphicFrame>
        <p:nvGraphicFramePr>
          <p:cNvPr id="4" name="Chart 0" descr=""/>
          <p:cNvGraphicFramePr/>
          <p:nvPr/>
        </p:nvGraphicFramePr>
        <p:xfrm>
          <a:off x="548640" y="164592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828800"/>
            <a:ext cx="3200400" cy="2103120"/>
          </a:xfrm>
          <a:prstGeom prst="roundRect">
            <a:avLst>
              <a:gd name="adj" fmla="val 4348"/>
            </a:avLst>
          </a:prstGeom>
          <a:solidFill>
            <a:srgbClr val="2C5F2D"/>
          </a:solidFill>
          <a:ln/>
          <a:effectLst>
            <a:outerShdw sx="100000" sy="100000" kx="0" ky="0" algn="bl" rotWithShape="0" blurRad="88900" dist="38100" dir="5400000">
              <a:srgbClr val="000000">
                <a:alpha val="18000"/>
              </a:srgbClr>
            </a:outerShdw>
          </a:effectLst>
        </p:spPr>
      </p:sp>
      <p:sp>
        <p:nvSpPr>
          <p:cNvPr id="6" name="Text 3"/>
          <p:cNvSpPr/>
          <p:nvPr/>
        </p:nvSpPr>
        <p:spPr>
          <a:xfrm>
            <a:off x="8412480" y="2057400"/>
            <a:ext cx="3200400" cy="1005840"/>
          </a:xfrm>
          <a:prstGeom prst="rect">
            <a:avLst/>
          </a:prstGeom>
          <a:noFill/>
          <a:ln/>
        </p:spPr>
        <p:txBody>
          <a:bodyPr wrap="square"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82.1%</a:t>
            </a:r>
            <a:endParaRPr lang="en-US" sz="5000" dirty="0"/>
          </a:p>
        </p:txBody>
      </p:sp>
      <p:sp>
        <p:nvSpPr>
          <p:cNvPr id="7" name="Text 4"/>
          <p:cNvSpPr/>
          <p:nvPr/>
        </p:nvSpPr>
        <p:spPr>
          <a:xfrm>
            <a:off x="8412480" y="3108960"/>
            <a:ext cx="3200400" cy="640080"/>
          </a:xfrm>
          <a:prstGeom prst="rect">
            <a:avLst/>
          </a:prstGeom>
          <a:noFill/>
          <a:ln/>
        </p:spPr>
        <p:txBody>
          <a:bodyPr wrap="square" rtlCol="0" anchor="ctr"/>
          <a:lstStyle/>
          <a:p>
            <a:pPr algn="ctr" indent="0" marL="0">
              <a:buNone/>
            </a:pPr>
            <a:r>
              <a:rPr lang="en-US" sz="1400" dirty="0">
                <a:solidFill>
                  <a:srgbClr val="F5F5F5"/>
                </a:solidFill>
                <a:latin typeface="Calibri" pitchFamily="34" charset="0"/>
                <a:ea typeface="Calibri" pitchFamily="34" charset="-122"/>
                <a:cs typeface="Calibri" pitchFamily="34" charset="-120"/>
              </a:rPr>
              <a:t>Custom CNN test accuracy</a:t>
            </a:r>
            <a:endParaRPr lang="en-US" sz="1400" dirty="0"/>
          </a:p>
        </p:txBody>
      </p:sp>
      <p:sp>
        <p:nvSpPr>
          <p:cNvPr id="8" name="Shape 5"/>
          <p:cNvSpPr/>
          <p:nvPr/>
        </p:nvSpPr>
        <p:spPr>
          <a:xfrm>
            <a:off x="8412480" y="4114800"/>
            <a:ext cx="3200400" cy="2103120"/>
          </a:xfrm>
          <a:prstGeom prst="roundRect">
            <a:avLst>
              <a:gd name="adj" fmla="val 4348"/>
            </a:avLst>
          </a:prstGeom>
          <a:solidFill>
            <a:srgbClr val="FFFFFF"/>
          </a:solidFill>
          <a:ln/>
          <a:effectLst>
            <a:outerShdw sx="100000" sy="100000" kx="0" ky="0" algn="bl" rotWithShape="0" blurRad="88900" dist="38100" dir="5400000">
              <a:srgbClr val="000000">
                <a:alpha val="18000"/>
              </a:srgbClr>
            </a:outerShdw>
          </a:effectLst>
        </p:spPr>
      </p:sp>
      <p:sp>
        <p:nvSpPr>
          <p:cNvPr id="9" name="Text 6"/>
          <p:cNvSpPr/>
          <p:nvPr/>
        </p:nvSpPr>
        <p:spPr>
          <a:xfrm>
            <a:off x="8412480" y="4343400"/>
            <a:ext cx="3200400" cy="1005840"/>
          </a:xfrm>
          <a:prstGeom prst="rect">
            <a:avLst/>
          </a:prstGeom>
          <a:noFill/>
          <a:ln/>
        </p:spPr>
        <p:txBody>
          <a:bodyPr wrap="square" rtlCol="0" anchor="ctr"/>
          <a:lstStyle/>
          <a:p>
            <a:pPr algn="ctr" indent="0" marL="0">
              <a:buNone/>
            </a:pPr>
            <a:r>
              <a:rPr lang="en-US" sz="5000" b="1" dirty="0">
                <a:solidFill>
                  <a:srgbClr val="2C5F2D"/>
                </a:solidFill>
                <a:latin typeface="Cambria" pitchFamily="34" charset="0"/>
                <a:ea typeface="Cambria" pitchFamily="34" charset="-122"/>
                <a:cs typeface="Cambria" pitchFamily="34" charset="-120"/>
              </a:rPr>
              <a:t>0.79</a:t>
            </a:r>
            <a:endParaRPr lang="en-US" sz="5000" dirty="0"/>
          </a:p>
        </p:txBody>
      </p:sp>
      <p:sp>
        <p:nvSpPr>
          <p:cNvPr id="10" name="Text 7"/>
          <p:cNvSpPr/>
          <p:nvPr/>
        </p:nvSpPr>
        <p:spPr>
          <a:xfrm>
            <a:off x="8412480" y="5394960"/>
            <a:ext cx="3200400" cy="640080"/>
          </a:xfrm>
          <a:prstGeom prst="rect">
            <a:avLst/>
          </a:prstGeom>
          <a:noFill/>
          <a:ln/>
        </p:spPr>
        <p:txBody>
          <a:bodyPr wrap="square" rtlCol="0" anchor="ctr"/>
          <a:lstStyle/>
          <a:p>
            <a:pPr algn="ctr" indent="0" marL="0">
              <a:buNone/>
            </a:pPr>
            <a:r>
              <a:rPr lang="en-US" sz="1400" dirty="0">
                <a:solidFill>
                  <a:srgbClr val="6B7B6B"/>
                </a:solidFill>
                <a:latin typeface="Calibri" pitchFamily="34" charset="0"/>
                <a:ea typeface="Calibri" pitchFamily="34" charset="-122"/>
                <a:cs typeface="Calibri" pitchFamily="34" charset="-120"/>
              </a:rPr>
              <a:t>Macro F1  ·  AUC 0.883</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058400" cy="640080"/>
          </a:xfrm>
          <a:prstGeom prst="rect">
            <a:avLst/>
          </a:prstGeom>
          <a:noFill/>
          <a:ln/>
        </p:spPr>
        <p:txBody>
          <a:bodyPr wrap="square"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Key Figures: Confusion &amp; ROC</a:t>
            </a:r>
            <a:endParaRPr lang="en-US" sz="3200" dirty="0"/>
          </a:p>
        </p:txBody>
      </p:sp>
      <p:pic>
        <p:nvPicPr>
          <p:cNvPr id="3" name="Image 0" descr="Figures/fig_confusion_matrices.png">    </p:cNvPr>
          <p:cNvPicPr>
            <a:picLocks noChangeAspect="1"/>
          </p:cNvPicPr>
          <p:nvPr/>
        </p:nvPicPr>
        <p:blipFill>
          <a:blip r:embed="rId1"/>
          <a:srcRect l="0" r="0" t="0" b="0"/>
          <a:stretch/>
        </p:blipFill>
        <p:spPr>
          <a:xfrm>
            <a:off x="457200" y="1280160"/>
            <a:ext cx="6766560" cy="2834640"/>
          </a:xfrm>
          <a:prstGeom prst="rect">
            <a:avLst/>
          </a:prstGeom>
        </p:spPr>
      </p:pic>
      <p:pic>
        <p:nvPicPr>
          <p:cNvPr id="4" name="Image 1" descr="Figures/fig_roc_curves.png">    </p:cNvPr>
          <p:cNvPicPr>
            <a:picLocks noChangeAspect="1"/>
          </p:cNvPicPr>
          <p:nvPr/>
        </p:nvPicPr>
        <p:blipFill>
          <a:blip r:embed="rId2"/>
          <a:srcRect l="0" r="0" t="0" b="0"/>
          <a:stretch/>
        </p:blipFill>
        <p:spPr>
          <a:xfrm>
            <a:off x="7406640" y="1280160"/>
            <a:ext cx="4206240" cy="3291840"/>
          </a:xfrm>
          <a:prstGeom prst="rect">
            <a:avLst/>
          </a:prstGeom>
        </p:spPr>
      </p:pic>
      <p:sp>
        <p:nvSpPr>
          <p:cNvPr id="5" name="Text 1"/>
          <p:cNvSpPr/>
          <p:nvPr/>
        </p:nvSpPr>
        <p:spPr>
          <a:xfrm>
            <a:off x="640080" y="4937760"/>
            <a:ext cx="10972800" cy="1280160"/>
          </a:xfrm>
          <a:prstGeom prst="rect">
            <a:avLst/>
          </a:prstGeom>
          <a:noFill/>
          <a:ln/>
        </p:spPr>
        <p:txBody>
          <a:bodyPr wrap="square"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Confusion matrices  </a:t>
            </a:r>
            <a:pPr indent="0" marL="0">
              <a:buNone/>
            </a:pPr>
            <a:r>
              <a:rPr lang="en-US" sz="1600" dirty="0">
                <a:solidFill>
                  <a:srgbClr val="2E2E2E"/>
                </a:solidFill>
                <a:latin typeface="Calibri" pitchFamily="34" charset="0"/>
                <a:ea typeface="Calibri" pitchFamily="34" charset="-122"/>
                <a:cs typeface="Calibri" pitchFamily="34" charset="-120"/>
              </a:rPr>
              <a:t>show the custom CNN makes far fewer errors in both classes. </a:t>
            </a:r>
            <a:pPr indent="0" marL="0">
              <a:buNone/>
            </a:pPr>
            <a:r>
              <a:rPr lang="en-US" sz="1600" b="1" dirty="0">
                <a:solidFill>
                  <a:srgbClr val="2C5F2D"/>
                </a:solidFill>
                <a:latin typeface="Calibri" pitchFamily="34" charset="0"/>
                <a:ea typeface="Calibri" pitchFamily="34" charset="-122"/>
                <a:cs typeface="Calibri" pitchFamily="34" charset="-120"/>
              </a:rPr>
              <a:t> ROC curves  </a:t>
            </a:r>
            <a:pPr indent="0" marL="0">
              <a:buNone/>
            </a:pPr>
            <a:r>
              <a:rPr lang="en-US" sz="1600" dirty="0">
                <a:solidFill>
                  <a:srgbClr val="2E2E2E"/>
                </a:solidFill>
                <a:latin typeface="Calibri" pitchFamily="34" charset="0"/>
                <a:ea typeface="Calibri" pitchFamily="34" charset="-122"/>
                <a:cs typeface="Calibri" pitchFamily="34" charset="-120"/>
              </a:rPr>
              <a:t>confirm stronger separability — AUC 0.88 vs 0.82, both well above chance.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1C"/>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Explainability: Grad-CAM &amp; SHAP</a:t>
            </a:r>
            <a:endParaRPr lang="en-US" sz="3200" dirty="0"/>
          </a:p>
        </p:txBody>
      </p:sp>
      <p:sp>
        <p:nvSpPr>
          <p:cNvPr id="3" name="Text 1"/>
          <p:cNvSpPr/>
          <p:nvPr/>
        </p:nvSpPr>
        <p:spPr>
          <a:xfrm>
            <a:off x="640080" y="1143000"/>
            <a:ext cx="10972800" cy="457200"/>
          </a:xfrm>
          <a:prstGeom prst="rect">
            <a:avLst/>
          </a:prstGeom>
          <a:noFill/>
          <a:ln/>
        </p:spPr>
        <p:txBody>
          <a:bodyPr wrap="square" rtlCol="0" anchor="ctr"/>
          <a:lstStyle/>
          <a:p>
            <a:pPr indent="0" marL="0">
              <a:buNone/>
            </a:pPr>
            <a:r>
              <a:rPr lang="en-US" sz="1700" i="1" dirty="0">
                <a:solidFill>
                  <a:srgbClr val="97BC62"/>
                </a:solidFill>
                <a:latin typeface="Calibri" pitchFamily="34" charset="0"/>
                <a:ea typeface="Calibri" pitchFamily="34" charset="-122"/>
                <a:cs typeface="Calibri" pitchFamily="34" charset="-120"/>
              </a:rPr>
              <a:t>Does the model look at real vegetation — or background tricks?</a:t>
            </a:r>
            <a:endParaRPr lang="en-US" sz="1700" dirty="0"/>
          </a:p>
        </p:txBody>
      </p:sp>
      <p:sp>
        <p:nvSpPr>
          <p:cNvPr id="4" name="Shape 2"/>
          <p:cNvSpPr/>
          <p:nvPr/>
        </p:nvSpPr>
        <p:spPr>
          <a:xfrm>
            <a:off x="640080" y="1828800"/>
            <a:ext cx="6766560" cy="1371600"/>
          </a:xfrm>
          <a:prstGeom prst="roundRect">
            <a:avLst>
              <a:gd name="adj" fmla="val 4667"/>
            </a:avLst>
          </a:prstGeom>
          <a:solidFill>
            <a:srgbClr val="2C5F2D"/>
          </a:solidFill>
          <a:ln/>
        </p:spPr>
      </p:sp>
      <p:sp>
        <p:nvSpPr>
          <p:cNvPr id="5" name="Text 3"/>
          <p:cNvSpPr/>
          <p:nvPr/>
        </p:nvSpPr>
        <p:spPr>
          <a:xfrm>
            <a:off x="914400" y="1828800"/>
            <a:ext cx="1828800" cy="137160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Grad-CAM</a:t>
            </a:r>
            <a:endParaRPr lang="en-US" sz="1800" dirty="0"/>
          </a:p>
        </p:txBody>
      </p:sp>
      <p:sp>
        <p:nvSpPr>
          <p:cNvPr id="6" name="Text 4"/>
          <p:cNvSpPr/>
          <p:nvPr/>
        </p:nvSpPr>
        <p:spPr>
          <a:xfrm>
            <a:off x="2194560" y="1920240"/>
            <a:ext cx="5029200" cy="1188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Heatmaps concentrate on contiguous canopy for forest; shift to cleared / water / bare areas for non-forest.</a:t>
            </a:r>
            <a:endParaRPr lang="en-US" sz="1200" dirty="0"/>
          </a:p>
        </p:txBody>
      </p:sp>
      <p:sp>
        <p:nvSpPr>
          <p:cNvPr id="7" name="Shape 5"/>
          <p:cNvSpPr/>
          <p:nvPr/>
        </p:nvSpPr>
        <p:spPr>
          <a:xfrm>
            <a:off x="640080" y="3337560"/>
            <a:ext cx="6766560" cy="1371600"/>
          </a:xfrm>
          <a:prstGeom prst="roundRect">
            <a:avLst>
              <a:gd name="adj" fmla="val 4667"/>
            </a:avLst>
          </a:prstGeom>
          <a:solidFill>
            <a:srgbClr val="2C5F2D"/>
          </a:solidFill>
          <a:ln/>
        </p:spPr>
      </p:sp>
      <p:sp>
        <p:nvSpPr>
          <p:cNvPr id="8" name="Text 6"/>
          <p:cNvSpPr/>
          <p:nvPr/>
        </p:nvSpPr>
        <p:spPr>
          <a:xfrm>
            <a:off x="914400" y="3337560"/>
            <a:ext cx="1828800" cy="137160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SHAP</a:t>
            </a:r>
            <a:endParaRPr lang="en-US" sz="1800" dirty="0"/>
          </a:p>
        </p:txBody>
      </p:sp>
      <p:sp>
        <p:nvSpPr>
          <p:cNvPr id="9" name="Text 7"/>
          <p:cNvSpPr/>
          <p:nvPr/>
        </p:nvSpPr>
        <p:spPr>
          <a:xfrm>
            <a:off x="2194560" y="3429000"/>
            <a:ext cx="5029200" cy="1188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Masking-based maps give clearly negative Forest evidence to water and bare scenes; diffuse, low-magnitude (global average pooling effect).</a:t>
            </a:r>
            <a:endParaRPr lang="en-US" sz="1200" dirty="0"/>
          </a:p>
        </p:txBody>
      </p:sp>
      <p:sp>
        <p:nvSpPr>
          <p:cNvPr id="10" name="Shape 8"/>
          <p:cNvSpPr/>
          <p:nvPr/>
        </p:nvSpPr>
        <p:spPr>
          <a:xfrm>
            <a:off x="640080" y="4846320"/>
            <a:ext cx="6766560" cy="1371600"/>
          </a:xfrm>
          <a:prstGeom prst="roundRect">
            <a:avLst>
              <a:gd name="adj" fmla="val 4667"/>
            </a:avLst>
          </a:prstGeom>
          <a:solidFill>
            <a:srgbClr val="2C5F2D"/>
          </a:solidFill>
          <a:ln/>
        </p:spPr>
      </p:sp>
      <p:sp>
        <p:nvSpPr>
          <p:cNvPr id="11" name="Text 9"/>
          <p:cNvSpPr/>
          <p:nvPr/>
        </p:nvSpPr>
        <p:spPr>
          <a:xfrm>
            <a:off x="914400" y="4846320"/>
            <a:ext cx="1828800" cy="137160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Together</a:t>
            </a:r>
            <a:endParaRPr lang="en-US" sz="1800" dirty="0"/>
          </a:p>
        </p:txBody>
      </p:sp>
      <p:sp>
        <p:nvSpPr>
          <p:cNvPr id="12" name="Text 10"/>
          <p:cNvSpPr/>
          <p:nvPr/>
        </p:nvSpPr>
        <p:spPr>
          <a:xfrm>
            <a:off x="2194560" y="4937760"/>
            <a:ext cx="5029200" cy="11887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Grad-CAM gives sharp localisation, SHAP confirms direction — model reasons from real vegetation, not artefacts.</a:t>
            </a:r>
            <a:endParaRPr lang="en-US" sz="1200" dirty="0"/>
          </a:p>
        </p:txBody>
      </p:sp>
      <p:pic>
        <p:nvPicPr>
          <p:cNvPr id="13" name="Image 0" descr="Figures/fig_shap.png">    </p:cNvPr>
          <p:cNvPicPr>
            <a:picLocks noChangeAspect="1"/>
          </p:cNvPicPr>
          <p:nvPr/>
        </p:nvPicPr>
        <p:blipFill>
          <a:blip r:embed="rId1"/>
          <a:srcRect l="0" r="0" t="0" b="0"/>
          <a:stretch/>
        </p:blipFill>
        <p:spPr>
          <a:xfrm>
            <a:off x="7863840" y="1737360"/>
            <a:ext cx="2560320" cy="4114800"/>
          </a:xfrm>
          <a:prstGeom prst="rect">
            <a:avLst/>
          </a:prstGeom>
        </p:spPr>
      </p:pic>
      <p:sp>
        <p:nvSpPr>
          <p:cNvPr id="14" name="Text 11"/>
          <p:cNvSpPr/>
          <p:nvPr/>
        </p:nvSpPr>
        <p:spPr>
          <a:xfrm>
            <a:off x="7589520" y="5897880"/>
            <a:ext cx="3108960" cy="365760"/>
          </a:xfrm>
          <a:prstGeom prst="rect">
            <a:avLst/>
          </a:prstGeom>
          <a:noFill/>
          <a:ln/>
        </p:spPr>
        <p:txBody>
          <a:bodyPr wrap="square" rtlCol="0" anchor="ctr"/>
          <a:lstStyle/>
          <a:p>
            <a:pPr algn="ctr" indent="0" marL="0">
              <a:buNone/>
            </a:pPr>
            <a:r>
              <a:rPr lang="en-US" sz="1100" i="1" dirty="0">
                <a:solidFill>
                  <a:srgbClr val="97BC62"/>
                </a:solidFill>
                <a:latin typeface="Calibri" pitchFamily="34" charset="0"/>
                <a:ea typeface="Calibri" pitchFamily="34" charset="-122"/>
                <a:cs typeface="Calibri" pitchFamily="34" charset="-120"/>
              </a:rPr>
              <a:t>Real SHAP output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Limitations &amp; Future Work</a:t>
            </a:r>
            <a:endParaRPr lang="en-US" sz="3400" dirty="0"/>
          </a:p>
        </p:txBody>
      </p:sp>
      <p:sp>
        <p:nvSpPr>
          <p:cNvPr id="3" name="Shape 1"/>
          <p:cNvSpPr/>
          <p:nvPr/>
        </p:nvSpPr>
        <p:spPr>
          <a:xfrm>
            <a:off x="640080" y="1371600"/>
            <a:ext cx="5394960" cy="1417320"/>
          </a:xfrm>
          <a:prstGeom prst="roundRect">
            <a:avLst>
              <a:gd name="adj" fmla="val 4516"/>
            </a:avLst>
          </a:prstGeom>
          <a:solidFill>
            <a:srgbClr val="FFFFFF"/>
          </a:solidFill>
          <a:ln/>
          <a:effectLst>
            <a:outerShdw sx="100000" sy="100000" kx="0" ky="0" algn="bl" rotWithShape="0" blurRad="88900" dist="38100" dir="5400000">
              <a:srgbClr val="000000">
                <a:alpha val="18000"/>
              </a:srgbClr>
            </a:outerShdw>
          </a:effectLst>
        </p:spPr>
      </p:sp>
      <p:sp>
        <p:nvSpPr>
          <p:cNvPr id="4" name="Text 2"/>
          <p:cNvSpPr/>
          <p:nvPr/>
        </p:nvSpPr>
        <p:spPr>
          <a:xfrm>
            <a:off x="960120" y="1554480"/>
            <a:ext cx="4754880" cy="457200"/>
          </a:xfrm>
          <a:prstGeom prst="rect">
            <a:avLst/>
          </a:prstGeom>
          <a:noFill/>
          <a:ln/>
        </p:spPr>
        <p:txBody>
          <a:bodyPr wrap="square"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Single dataset</a:t>
            </a:r>
            <a:endParaRPr lang="en-US" sz="1800" dirty="0"/>
          </a:p>
        </p:txBody>
      </p:sp>
      <p:sp>
        <p:nvSpPr>
          <p:cNvPr id="5" name="Text 3"/>
          <p:cNvSpPr/>
          <p:nvPr/>
        </p:nvSpPr>
        <p:spPr>
          <a:xfrm>
            <a:off x="960120" y="2029968"/>
            <a:ext cx="4754880" cy="64008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No external validation across regions, sensors, or seasons.</a:t>
            </a:r>
            <a:endParaRPr lang="en-US" sz="1400" dirty="0"/>
          </a:p>
        </p:txBody>
      </p:sp>
      <p:sp>
        <p:nvSpPr>
          <p:cNvPr id="6" name="Shape 4"/>
          <p:cNvSpPr/>
          <p:nvPr/>
        </p:nvSpPr>
        <p:spPr>
          <a:xfrm>
            <a:off x="6309360" y="1371600"/>
            <a:ext cx="5394960" cy="1417320"/>
          </a:xfrm>
          <a:prstGeom prst="roundRect">
            <a:avLst>
              <a:gd name="adj" fmla="val 4516"/>
            </a:avLst>
          </a:prstGeom>
          <a:solidFill>
            <a:srgbClr val="FFFFFF"/>
          </a:solidFill>
          <a:ln/>
          <a:effectLst>
            <a:outerShdw sx="100000" sy="100000" kx="0" ky="0" algn="bl" rotWithShape="0" blurRad="88900" dist="38100" dir="5400000">
              <a:srgbClr val="000000">
                <a:alpha val="18000"/>
              </a:srgbClr>
            </a:outerShdw>
          </a:effectLst>
        </p:spPr>
      </p:sp>
      <p:sp>
        <p:nvSpPr>
          <p:cNvPr id="7" name="Text 5"/>
          <p:cNvSpPr/>
          <p:nvPr/>
        </p:nvSpPr>
        <p:spPr>
          <a:xfrm>
            <a:off x="6629400" y="1554480"/>
            <a:ext cx="4754880" cy="457200"/>
          </a:xfrm>
          <a:prstGeom prst="rect">
            <a:avLst/>
          </a:prstGeom>
          <a:noFill/>
          <a:ln/>
        </p:spPr>
        <p:txBody>
          <a:bodyPr wrap="square"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RGB only</a:t>
            </a:r>
            <a:endParaRPr lang="en-US" sz="1800" dirty="0"/>
          </a:p>
        </p:txBody>
      </p:sp>
      <p:sp>
        <p:nvSpPr>
          <p:cNvPr id="8" name="Text 6"/>
          <p:cNvSpPr/>
          <p:nvPr/>
        </p:nvSpPr>
        <p:spPr>
          <a:xfrm>
            <a:off x="6629400" y="2029968"/>
            <a:ext cx="4754880" cy="64008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Multi-spectral bands could sharpen land-cover discrimination.</a:t>
            </a:r>
            <a:endParaRPr lang="en-US" sz="1400" dirty="0"/>
          </a:p>
        </p:txBody>
      </p:sp>
      <p:sp>
        <p:nvSpPr>
          <p:cNvPr id="9" name="Shape 7"/>
          <p:cNvSpPr/>
          <p:nvPr/>
        </p:nvSpPr>
        <p:spPr>
          <a:xfrm>
            <a:off x="640080" y="3063240"/>
            <a:ext cx="5394960" cy="1417320"/>
          </a:xfrm>
          <a:prstGeom prst="roundRect">
            <a:avLst>
              <a:gd name="adj" fmla="val 4516"/>
            </a:avLst>
          </a:prstGeom>
          <a:solidFill>
            <a:srgbClr val="FFFFFF"/>
          </a:solidFill>
          <a:ln/>
          <a:effectLst>
            <a:outerShdw sx="100000" sy="100000" kx="0" ky="0" algn="bl" rotWithShape="0" blurRad="88900" dist="38100" dir="5400000">
              <a:srgbClr val="000000">
                <a:alpha val="18000"/>
              </a:srgbClr>
            </a:outerShdw>
          </a:effectLst>
        </p:spPr>
      </p:sp>
      <p:sp>
        <p:nvSpPr>
          <p:cNvPr id="10" name="Text 8"/>
          <p:cNvSpPr/>
          <p:nvPr/>
        </p:nvSpPr>
        <p:spPr>
          <a:xfrm>
            <a:off x="960120" y="3246120"/>
            <a:ext cx="4754880" cy="457200"/>
          </a:xfrm>
          <a:prstGeom prst="rect">
            <a:avLst/>
          </a:prstGeom>
          <a:noFill/>
          <a:ln/>
        </p:spPr>
        <p:txBody>
          <a:bodyPr wrap="square"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Binary task</a:t>
            </a:r>
            <a:endParaRPr lang="en-US" sz="1800" dirty="0"/>
          </a:p>
        </p:txBody>
      </p:sp>
      <p:sp>
        <p:nvSpPr>
          <p:cNvPr id="11" name="Text 9"/>
          <p:cNvSpPr/>
          <p:nvPr/>
        </p:nvSpPr>
        <p:spPr>
          <a:xfrm>
            <a:off x="960120" y="3721608"/>
            <a:ext cx="4754880" cy="64008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Real monitoring may need degradation, partial clearing, regrowth classes.</a:t>
            </a:r>
            <a:endParaRPr lang="en-US" sz="1400" dirty="0"/>
          </a:p>
        </p:txBody>
      </p:sp>
      <p:sp>
        <p:nvSpPr>
          <p:cNvPr id="12" name="Shape 10"/>
          <p:cNvSpPr/>
          <p:nvPr/>
        </p:nvSpPr>
        <p:spPr>
          <a:xfrm>
            <a:off x="6309360" y="3063240"/>
            <a:ext cx="5394960" cy="1417320"/>
          </a:xfrm>
          <a:prstGeom prst="roundRect">
            <a:avLst>
              <a:gd name="adj" fmla="val 4516"/>
            </a:avLst>
          </a:prstGeom>
          <a:solidFill>
            <a:srgbClr val="FFFFFF"/>
          </a:solidFill>
          <a:ln/>
          <a:effectLst>
            <a:outerShdw sx="100000" sy="100000" kx="0" ky="0" algn="bl" rotWithShape="0" blurRad="88900" dist="38100" dir="5400000">
              <a:srgbClr val="000000">
                <a:alpha val="18000"/>
              </a:srgbClr>
            </a:outerShdw>
          </a:effectLst>
        </p:spPr>
      </p:sp>
      <p:sp>
        <p:nvSpPr>
          <p:cNvPr id="13" name="Text 11"/>
          <p:cNvSpPr/>
          <p:nvPr/>
        </p:nvSpPr>
        <p:spPr>
          <a:xfrm>
            <a:off x="6629400" y="3246120"/>
            <a:ext cx="4754880" cy="457200"/>
          </a:xfrm>
          <a:prstGeom prst="rect">
            <a:avLst/>
          </a:prstGeom>
          <a:noFill/>
          <a:ln/>
        </p:spPr>
        <p:txBody>
          <a:bodyPr wrap="square"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No robustness test</a:t>
            </a:r>
            <a:endParaRPr lang="en-US" sz="1800" dirty="0"/>
          </a:p>
        </p:txBody>
      </p:sp>
      <p:sp>
        <p:nvSpPr>
          <p:cNvPr id="14" name="Text 12"/>
          <p:cNvSpPr/>
          <p:nvPr/>
        </p:nvSpPr>
        <p:spPr>
          <a:xfrm>
            <a:off x="6629400" y="3721608"/>
            <a:ext cx="4754880" cy="640080"/>
          </a:xfrm>
          <a:prstGeom prst="rect">
            <a:avLst/>
          </a:prstGeom>
          <a:noFill/>
          <a:ln/>
        </p:spPr>
        <p:txBody>
          <a:bodyPr wrap="square" rtlCol="0" anchor="t"/>
          <a:lstStyle/>
          <a:p>
            <a:pPr indent="0" marL="0">
              <a:buNone/>
            </a:pPr>
            <a:r>
              <a:rPr lang="en-US" sz="1400" dirty="0">
                <a:solidFill>
                  <a:srgbClr val="2E2E2E"/>
                </a:solidFill>
                <a:latin typeface="Calibri" pitchFamily="34" charset="0"/>
                <a:ea typeface="Calibri" pitchFamily="34" charset="-122"/>
                <a:cs typeface="Calibri" pitchFamily="34" charset="-120"/>
              </a:rPr>
              <a:t>Noise, blur, and illumination shifts not yet evaluated formally.</a:t>
            </a:r>
            <a:endParaRPr lang="en-US" sz="1400" dirty="0"/>
          </a:p>
        </p:txBody>
      </p:sp>
      <p:sp>
        <p:nvSpPr>
          <p:cNvPr id="15" name="Shape 13"/>
          <p:cNvSpPr/>
          <p:nvPr/>
        </p:nvSpPr>
        <p:spPr>
          <a:xfrm>
            <a:off x="640080" y="4526280"/>
            <a:ext cx="10972800" cy="1737360"/>
          </a:xfrm>
          <a:prstGeom prst="roundRect">
            <a:avLst>
              <a:gd name="adj" fmla="val 3684"/>
            </a:avLst>
          </a:prstGeom>
          <a:solidFill>
            <a:srgbClr val="2C5F2D"/>
          </a:solidFill>
          <a:ln/>
        </p:spPr>
      </p:sp>
      <p:sp>
        <p:nvSpPr>
          <p:cNvPr id="16" name="Text 14"/>
          <p:cNvSpPr/>
          <p:nvPr/>
        </p:nvSpPr>
        <p:spPr>
          <a:xfrm>
            <a:off x="914400" y="4663440"/>
            <a:ext cx="10058400" cy="457200"/>
          </a:xfrm>
          <a:prstGeom prst="rect">
            <a:avLst/>
          </a:prstGeom>
          <a:noFill/>
          <a:ln/>
        </p:spPr>
        <p:txBody>
          <a:bodyPr wrap="square" rtlCol="0" anchor="ctr"/>
          <a:lstStyle/>
          <a:p>
            <a:pPr indent="0" marL="0">
              <a:buNone/>
            </a:pPr>
            <a:r>
              <a:rPr lang="en-US" sz="1900" b="1" dirty="0">
                <a:solidFill>
                  <a:srgbClr val="97BC62"/>
                </a:solidFill>
                <a:latin typeface="Cambria" pitchFamily="34" charset="0"/>
                <a:ea typeface="Cambria" pitchFamily="34" charset="-122"/>
                <a:cs typeface="Cambria" pitchFamily="34" charset="-120"/>
              </a:rPr>
              <a:t>Future work</a:t>
            </a:r>
            <a:endParaRPr lang="en-US" sz="1900" dirty="0"/>
          </a:p>
        </p:txBody>
      </p:sp>
      <p:sp>
        <p:nvSpPr>
          <p:cNvPr id="17" name="Text 15"/>
          <p:cNvSpPr/>
          <p:nvPr/>
        </p:nvSpPr>
        <p:spPr>
          <a:xfrm>
            <a:off x="914400" y="5074920"/>
            <a:ext cx="10424160" cy="1097280"/>
          </a:xfrm>
          <a:prstGeom prst="rect">
            <a:avLst/>
          </a:prstGeom>
          <a:noFill/>
          <a:ln/>
        </p:spPr>
        <p:txBody>
          <a:bodyPr wrap="square" rtlCol="0" anchor="t"/>
          <a:lstStyle/>
          <a:p>
            <a:pPr indent="0" marL="0">
              <a:buNone/>
            </a:pPr>
            <a:r>
              <a:rPr lang="en-US" sz="1500" dirty="0">
                <a:solidFill>
                  <a:srgbClr val="FFFFFF"/>
                </a:solidFill>
                <a:latin typeface="Calibri" pitchFamily="34" charset="0"/>
                <a:ea typeface="Calibri" pitchFamily="34" charset="-122"/>
                <a:cs typeface="Calibri" pitchFamily="34" charset="-120"/>
              </a:rPr>
              <a:t>External validation on independent datasets · multi-spectral &amp; multi-class extension · evaluate VGG16 / ResNet / EfficientNet · formal robustness &amp; efficiency study for edge / UAV deployment.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1188720" y="4206240"/>
            <a:ext cx="3840480" cy="3840480"/>
          </a:xfrm>
          <a:prstGeom prst="ellipse">
            <a:avLst/>
          </a:prstGeom>
          <a:solidFill>
            <a:srgbClr val="2C5F2D"/>
          </a:solidFill>
          <a:ln/>
        </p:spPr>
      </p:sp>
      <p:sp>
        <p:nvSpPr>
          <p:cNvPr id="3" name="Shape 1"/>
          <p:cNvSpPr/>
          <p:nvPr/>
        </p:nvSpPr>
        <p:spPr>
          <a:xfrm>
            <a:off x="10424160" y="-1097280"/>
            <a:ext cx="3108960" cy="3108960"/>
          </a:xfrm>
          <a:prstGeom prst="ellipse">
            <a:avLst/>
          </a:prstGeom>
          <a:solidFill>
            <a:srgbClr val="97BC62">
              <a:alpha val="45000"/>
            </a:srgbClr>
          </a:solidFill>
          <a:ln/>
        </p:spPr>
      </p:sp>
      <p:sp>
        <p:nvSpPr>
          <p:cNvPr id="4" name="Text 2"/>
          <p:cNvSpPr/>
          <p:nvPr/>
        </p:nvSpPr>
        <p:spPr>
          <a:xfrm>
            <a:off x="640080" y="640080"/>
            <a:ext cx="914400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5" name="Text 3"/>
          <p:cNvSpPr/>
          <p:nvPr/>
        </p:nvSpPr>
        <p:spPr>
          <a:xfrm>
            <a:off x="640080" y="1554480"/>
            <a:ext cx="10515600" cy="1371600"/>
          </a:xfrm>
          <a:prstGeom prst="rect">
            <a:avLst/>
          </a:prstGeom>
          <a:noFill/>
          <a:ln/>
        </p:spPr>
        <p:txBody>
          <a:bodyPr wrap="square" rtlCol="0" anchor="t"/>
          <a:lstStyle/>
          <a:p>
            <a:pPr indent="0" marL="0">
              <a:buNone/>
            </a:pPr>
            <a:r>
              <a:rPr lang="en-US" sz="2200" dirty="0">
                <a:solidFill>
                  <a:srgbClr val="FFFFFF"/>
                </a:solidFill>
                <a:latin typeface="Calibri" pitchFamily="34" charset="0"/>
                <a:ea typeface="Calibri" pitchFamily="34" charset="-122"/>
                <a:cs typeface="Calibri" pitchFamily="34" charset="-120"/>
              </a:rPr>
              <a:t>An explainable custom CNN beat MobileNetV2 transfer learning — </a:t>
            </a:r>
            <a:endParaRPr lang="en-US" sz="2200" dirty="0"/>
          </a:p>
          <a:p>
            <a:pPr indent="0" marL="0">
              <a:buNone/>
            </a:pPr>
            <a:r>
              <a:rPr lang="en-US" sz="2200" b="1" dirty="0">
                <a:solidFill>
                  <a:srgbClr val="97BC62"/>
                </a:solidFill>
                <a:latin typeface="Calibri" pitchFamily="34" charset="0"/>
                <a:ea typeface="Calibri" pitchFamily="34" charset="-122"/>
                <a:cs typeface="Calibri" pitchFamily="34" charset="-120"/>
              </a:rPr>
              <a:t>82.1% accuracy, macro F1 0.79, AUC 0.883 — </a:t>
            </a:r>
            <a:endParaRPr lang="en-US" sz="2200" dirty="0"/>
          </a:p>
          <a:p>
            <a:pPr indent="0" marL="0">
              <a:buNone/>
            </a:pPr>
            <a:r>
              <a:rPr lang="en-US" sz="2200" dirty="0">
                <a:solidFill>
                  <a:srgbClr val="FFFFFF"/>
                </a:solidFill>
                <a:latin typeface="Calibri" pitchFamily="34" charset="0"/>
                <a:ea typeface="Calibri" pitchFamily="34" charset="-122"/>
                <a:cs typeface="Calibri" pitchFamily="34" charset="-120"/>
              </a:rPr>
              <a:t>while remaining faster and cheaper to run.</a:t>
            </a:r>
            <a:endParaRPr lang="en-US" sz="2200" dirty="0"/>
          </a:p>
        </p:txBody>
      </p:sp>
      <p:sp>
        <p:nvSpPr>
          <p:cNvPr id="6" name="Text 4"/>
          <p:cNvSpPr/>
          <p:nvPr/>
        </p:nvSpPr>
        <p:spPr>
          <a:xfrm>
            <a:off x="822960" y="3200400"/>
            <a:ext cx="10058400" cy="1828800"/>
          </a:xfrm>
          <a:prstGeom prst="rect">
            <a:avLst/>
          </a:prstGeom>
          <a:noFill/>
          <a:ln/>
        </p:spPr>
        <p:txBody>
          <a:bodyPr wrap="square" rtlCol="0" anchor="ctr"/>
          <a:lstStyle/>
          <a:p>
            <a:pPr marL="342900" indent="-342900">
              <a:spcAft>
                <a:spcPts val="1000"/>
              </a:spcAft>
              <a:buSzPct val="100000"/>
              <a:buChar char="•"/>
            </a:pPr>
            <a:r>
              <a:rPr lang="en-US" sz="1700" dirty="0">
                <a:solidFill>
                  <a:srgbClr val="F5F5F5"/>
                </a:solidFill>
                <a:latin typeface="Calibri" pitchFamily="34" charset="0"/>
                <a:ea typeface="Calibri" pitchFamily="34" charset="-122"/>
                <a:cs typeface="Calibri" pitchFamily="34" charset="-120"/>
              </a:rPr>
              <a:t>Grad-CAM and SHAP confirmed the model reasons from genuine vegetation.</a:t>
            </a:r>
            <a:endParaRPr lang="en-US" sz="1700" dirty="0"/>
          </a:p>
          <a:p>
            <a:pPr marL="342900" indent="-342900">
              <a:spcAft>
                <a:spcPts val="1000"/>
              </a:spcAft>
              <a:buSzPct val="100000"/>
              <a:buChar char="•"/>
            </a:pPr>
            <a:r>
              <a:rPr lang="en-US" sz="1700" dirty="0">
                <a:solidFill>
                  <a:srgbClr val="F5F5F5"/>
                </a:solidFill>
                <a:latin typeface="Calibri" pitchFamily="34" charset="0"/>
                <a:ea typeface="Calibri" pitchFamily="34" charset="-122"/>
                <a:cs typeface="Calibri" pitchFamily="34" charset="-120"/>
              </a:rPr>
              <a:t>A reproducible, explainable, resource-efficient pipeline for deforestation monitoring.</a:t>
            </a:r>
            <a:endParaRPr lang="en-US" sz="1700" dirty="0"/>
          </a:p>
          <a:p>
            <a:pPr marL="342900" indent="-342900">
              <a:spcAft>
                <a:spcPts val="1000"/>
              </a:spcAft>
              <a:buSzPct val="100000"/>
              <a:buChar char="•"/>
            </a:pPr>
            <a:r>
              <a:rPr lang="en-US" sz="1700" dirty="0">
                <a:solidFill>
                  <a:srgbClr val="F5F5F5"/>
                </a:solidFill>
                <a:latin typeface="Calibri" pitchFamily="34" charset="0"/>
                <a:ea typeface="Calibri" pitchFamily="34" charset="-122"/>
                <a:cs typeface="Calibri" pitchFamily="34" charset="-120"/>
              </a:rPr>
              <a:t>Foundation for scalable, trustworthy automated forest monitoring.</a:t>
            </a:r>
            <a:endParaRPr lang="en-US" sz="1700" dirty="0"/>
          </a:p>
        </p:txBody>
      </p:sp>
      <p:sp>
        <p:nvSpPr>
          <p:cNvPr id="7" name="Text 5"/>
          <p:cNvSpPr/>
          <p:nvPr/>
        </p:nvSpPr>
        <p:spPr>
          <a:xfrm>
            <a:off x="640080" y="5852160"/>
            <a:ext cx="10058400" cy="457200"/>
          </a:xfrm>
          <a:prstGeom prst="rect">
            <a:avLst/>
          </a:prstGeom>
          <a:noFill/>
          <a:ln/>
        </p:spPr>
        <p:txBody>
          <a:bodyPr wrap="square" rtlCol="0" anchor="ctr"/>
          <a:lstStyle/>
          <a:p>
            <a:pPr indent="0" marL="0">
              <a:buNone/>
            </a:pPr>
            <a:r>
              <a:rPr lang="en-US" sz="1800" b="1" i="1" dirty="0">
                <a:solidFill>
                  <a:srgbClr val="97BC62"/>
                </a:solidFill>
                <a:latin typeface="Cambria" pitchFamily="34" charset="0"/>
                <a:ea typeface="Cambria" pitchFamily="34" charset="-122"/>
                <a:cs typeface="Cambria" pitchFamily="34" charset="-120"/>
              </a:rPr>
              <a:t>Thank you  ·  Alok Prakashbhai Kevadiya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Deforestation Monitoring Using Deep Learning</dc:title>
  <dc:subject>PptxGenJS Presentation</dc:subject>
  <dc:creator>Alok Prakashbhai Kevadiya</dc:creator>
  <cp:lastModifiedBy>Alok Prakashbhai Kevadiya</cp:lastModifiedBy>
  <cp:revision>1</cp:revision>
  <dcterms:created xsi:type="dcterms:W3CDTF">2026-06-28T07:44:47Z</dcterms:created>
  <dcterms:modified xsi:type="dcterms:W3CDTF">2026-06-28T07:44:47Z</dcterms:modified>
</cp:coreProperties>
</file>